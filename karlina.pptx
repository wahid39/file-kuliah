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9" r:id="rId5"/>
    <p:sldId id="261" r:id="rId6"/>
    <p:sldId id="262" r:id="rId7"/>
    <p:sldId id="25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60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9A39"/>
    <a:srgbClr val="6C1A00"/>
    <a:srgbClr val="FE9202"/>
    <a:srgbClr val="1D3A00"/>
    <a:srgbClr val="007033"/>
    <a:srgbClr val="E7FF01"/>
    <a:srgbClr val="5EEC3C"/>
    <a:srgbClr val="990099"/>
    <a:srgbClr val="CC0099"/>
    <a:srgbClr val="00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132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6/12/2020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670" y="3487980"/>
            <a:ext cx="7940660" cy="76352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670" y="4251505"/>
            <a:ext cx="7940660" cy="763525"/>
          </a:xfrm>
        </p:spPr>
        <p:txBody>
          <a:bodyPr>
            <a:normAutofit/>
          </a:bodyPr>
          <a:lstStyle>
            <a:lvl1pPr marL="0" indent="0" algn="ct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044700"/>
            <a:ext cx="8246070" cy="763525"/>
          </a:xfrm>
        </p:spPr>
        <p:txBody>
          <a:bodyPr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808225"/>
            <a:ext cx="8246070" cy="3054100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433880"/>
            <a:ext cx="7024429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197405"/>
            <a:ext cx="7024429" cy="3511061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197404"/>
            <a:ext cx="8246070" cy="763525"/>
          </a:xfrm>
        </p:spPr>
        <p:txBody>
          <a:bodyPr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960929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433326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960929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433326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xmlns="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6/12/2020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1960930"/>
            <a:ext cx="7772400" cy="1021556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Nama</a:t>
            </a:r>
            <a:r>
              <a:rPr lang="en-US" dirty="0" smtClean="0"/>
              <a:t>        : </a:t>
            </a:r>
            <a:r>
              <a:rPr lang="en-US" dirty="0" err="1" smtClean="0"/>
              <a:t>karlina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Stambuk</a:t>
            </a:r>
            <a:r>
              <a:rPr lang="en-US" dirty="0" smtClean="0"/>
              <a:t> : </a:t>
            </a:r>
            <a:r>
              <a:rPr lang="en-US" dirty="0"/>
              <a:t>A1M1 17 071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75" y="3946095"/>
            <a:ext cx="7940660" cy="76352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ANALISIS STRUKTUR KEUANGAN DAN MODAL BANK DENGAN TRADE OFF MANFAAT DAN BIAYA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912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197405"/>
            <a:ext cx="8246070" cy="763525"/>
          </a:xfrm>
        </p:spPr>
        <p:txBody>
          <a:bodyPr>
            <a:normAutofit/>
          </a:bodyPr>
          <a:lstStyle/>
          <a:p>
            <a:r>
              <a:rPr lang="en-US" dirty="0" err="1" smtClean="0"/>
              <a:t>Latar</a:t>
            </a:r>
            <a:r>
              <a:rPr lang="en-US" dirty="0" smtClean="0"/>
              <a:t> </a:t>
            </a:r>
            <a:r>
              <a:rPr lang="en-US" dirty="0" err="1" smtClean="0"/>
              <a:t>Belakang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960930"/>
            <a:ext cx="8246070" cy="3054100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dirty="0" smtClean="0"/>
              <a:t>	</a:t>
            </a:r>
            <a:r>
              <a:rPr lang="en-US" dirty="0" err="1" smtClean="0"/>
              <a:t>setiap</a:t>
            </a:r>
            <a:r>
              <a:rPr lang="en-US" dirty="0" smtClean="0"/>
              <a:t> </a:t>
            </a:r>
            <a:r>
              <a:rPr lang="en-US" dirty="0" err="1"/>
              <a:t>penyaluran</a:t>
            </a:r>
            <a:r>
              <a:rPr lang="en-US" dirty="0"/>
              <a:t> </a:t>
            </a:r>
            <a:r>
              <a:rPr lang="en-US" dirty="0" err="1"/>
              <a:t>kredit</a:t>
            </a:r>
            <a:r>
              <a:rPr lang="en-US" dirty="0"/>
              <a:t>, bank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pembiayaan</a:t>
            </a:r>
            <a:r>
              <a:rPr lang="en-US" dirty="0"/>
              <a:t> yang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itulah</a:t>
            </a:r>
            <a:r>
              <a:rPr lang="en-US" dirty="0"/>
              <a:t> bank </a:t>
            </a:r>
            <a:r>
              <a:rPr lang="en-US" dirty="0" err="1"/>
              <a:t>membutuhkan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dana</a:t>
            </a:r>
            <a:r>
              <a:rPr lang="en-US" dirty="0"/>
              <a:t>,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berdampak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menurunnya</a:t>
            </a:r>
            <a:r>
              <a:rPr lang="en-US" dirty="0"/>
              <a:t> </a:t>
            </a:r>
            <a:r>
              <a:rPr lang="en-US" dirty="0" err="1"/>
              <a:t>kecukupan</a:t>
            </a:r>
            <a:r>
              <a:rPr lang="en-US" dirty="0"/>
              <a:t> modal minimum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dimiliki</a:t>
            </a:r>
            <a:r>
              <a:rPr lang="en-US" dirty="0"/>
              <a:t> bank. </a:t>
            </a:r>
            <a:r>
              <a:rPr lang="en-US" dirty="0" err="1"/>
              <a:t>Perlehan</a:t>
            </a:r>
            <a:r>
              <a:rPr lang="en-US" dirty="0"/>
              <a:t> </a:t>
            </a:r>
            <a:r>
              <a:rPr lang="en-US" dirty="0" err="1"/>
              <a:t>dana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simpanan</a:t>
            </a:r>
            <a:r>
              <a:rPr lang="en-US" dirty="0"/>
              <a:t> </a:t>
            </a:r>
            <a:r>
              <a:rPr lang="en-US" dirty="0" err="1"/>
              <a:t>masyarakat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lembaga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lainnya</a:t>
            </a:r>
            <a:r>
              <a:rPr lang="en-US" dirty="0"/>
              <a:t>.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membiayai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operasionalnya</a:t>
            </a:r>
            <a:r>
              <a:rPr lang="en-US" dirty="0"/>
              <a:t> bank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memperoleh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modal </a:t>
            </a:r>
            <a:r>
              <a:rPr lang="en-US" dirty="0" err="1"/>
              <a:t>sendiri</a:t>
            </a:r>
            <a:r>
              <a:rPr lang="en-US" dirty="0"/>
              <a:t>,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penjualan</a:t>
            </a:r>
            <a:r>
              <a:rPr lang="en-US" dirty="0"/>
              <a:t> </a:t>
            </a:r>
            <a:r>
              <a:rPr lang="en-US" dirty="0" err="1"/>
              <a:t>saham</a:t>
            </a:r>
            <a:r>
              <a:rPr lang="en-US" dirty="0"/>
              <a:t>. </a:t>
            </a:r>
            <a:r>
              <a:rPr lang="en-US" dirty="0" err="1"/>
              <a:t>Kegiatan</a:t>
            </a:r>
            <a:r>
              <a:rPr lang="en-US" dirty="0"/>
              <a:t> bank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dana</a:t>
            </a:r>
            <a:r>
              <a:rPr lang="en-US" dirty="0"/>
              <a:t> </a:t>
            </a:r>
            <a:r>
              <a:rPr lang="en-US" dirty="0" err="1"/>
              <a:t>segar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kecilnya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ditanggung</a:t>
            </a:r>
            <a:r>
              <a:rPr lang="en-US" dirty="0"/>
              <a:t> </a:t>
            </a:r>
            <a:r>
              <a:rPr lang="en-US" dirty="0" err="1"/>
              <a:t>nantinya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bank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modal yang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tujuannya</a:t>
            </a:r>
            <a:r>
              <a:rPr lang="en-US" dirty="0"/>
              <a:t>. </a:t>
            </a:r>
            <a:r>
              <a:rPr lang="en-US" dirty="0" err="1"/>
              <a:t>Menurut</a:t>
            </a:r>
            <a:r>
              <a:rPr lang="en-US" dirty="0"/>
              <a:t> </a:t>
            </a:r>
            <a:r>
              <a:rPr lang="en-US" dirty="0" err="1"/>
              <a:t>Siringoringo</a:t>
            </a:r>
            <a:r>
              <a:rPr lang="en-US" dirty="0"/>
              <a:t> (2012)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manajemen</a:t>
            </a:r>
            <a:r>
              <a:rPr lang="en-US" dirty="0"/>
              <a:t> bank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kebijakan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modal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mendukung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operasional</a:t>
            </a:r>
            <a:r>
              <a:rPr lang="en-US" dirty="0"/>
              <a:t> bank, </a:t>
            </a:r>
            <a:r>
              <a:rPr lang="en-US" dirty="0" err="1"/>
              <a:t>khususnya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penyaluran</a:t>
            </a:r>
            <a:r>
              <a:rPr lang="en-US" dirty="0"/>
              <a:t> </a:t>
            </a:r>
            <a:r>
              <a:rPr lang="en-US" dirty="0" err="1"/>
              <a:t>kredit</a:t>
            </a:r>
            <a:r>
              <a:rPr lang="en-US" dirty="0"/>
              <a:t>. </a:t>
            </a:r>
            <a:r>
              <a:rPr lang="en-US" dirty="0" err="1"/>
              <a:t>Pemenuhan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dana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bank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apabila</a:t>
            </a:r>
            <a:r>
              <a:rPr lang="en-US" dirty="0"/>
              <a:t> bank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dana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investasi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perluasan</a:t>
            </a:r>
            <a:r>
              <a:rPr lang="en-US" dirty="0"/>
              <a:t> </a:t>
            </a:r>
            <a:r>
              <a:rPr lang="en-US" dirty="0" err="1"/>
              <a:t>usahanya</a:t>
            </a:r>
            <a:r>
              <a:rPr lang="en-US" dirty="0"/>
              <a:t>. </a:t>
            </a:r>
            <a:r>
              <a:rPr lang="en-US" dirty="0" err="1"/>
              <a:t>Karena</a:t>
            </a:r>
            <a:r>
              <a:rPr lang="en-US" dirty="0"/>
              <a:t>, </a:t>
            </a:r>
            <a:r>
              <a:rPr lang="en-US" dirty="0" err="1"/>
              <a:t>pemenuhan</a:t>
            </a:r>
            <a:r>
              <a:rPr lang="en-US" dirty="0"/>
              <a:t> </a:t>
            </a:r>
            <a:r>
              <a:rPr lang="en-US" dirty="0" err="1"/>
              <a:t>dana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bank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penyaluran</a:t>
            </a:r>
            <a:r>
              <a:rPr lang="en-US" dirty="0"/>
              <a:t> </a:t>
            </a:r>
            <a:r>
              <a:rPr lang="en-US" dirty="0" err="1"/>
              <a:t>kredit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masyarakat</a:t>
            </a:r>
            <a:r>
              <a:rPr lang="en-US" dirty="0"/>
              <a:t>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simpanan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modal </a:t>
            </a:r>
            <a:r>
              <a:rPr lang="en-US" dirty="0" err="1"/>
              <a:t>sendiri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pemenuhan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investasi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perluasan</a:t>
            </a:r>
            <a:r>
              <a:rPr lang="en-US" dirty="0"/>
              <a:t> </a:t>
            </a:r>
            <a:r>
              <a:rPr lang="en-US" dirty="0" err="1"/>
              <a:t>usaha</a:t>
            </a:r>
            <a:r>
              <a:rPr lang="en-US" dirty="0"/>
              <a:t>.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433880"/>
            <a:ext cx="6871725" cy="725349"/>
          </a:xfrm>
        </p:spPr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n-US" b="1" dirty="0" err="1"/>
              <a:t>Tujuan</a:t>
            </a:r>
            <a:r>
              <a:rPr lang="en-US" b="1" dirty="0"/>
              <a:t> </a:t>
            </a:r>
            <a:r>
              <a:rPr lang="en-US" b="1" dirty="0" err="1" smtClean="0"/>
              <a:t>Penelitian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1670" y="1197405"/>
            <a:ext cx="6871725" cy="3511061"/>
          </a:xfrm>
        </p:spPr>
        <p:txBody>
          <a:bodyPr>
            <a:normAutofit/>
          </a:bodyPr>
          <a:lstStyle/>
          <a:p>
            <a:pPr lvl="0"/>
            <a:r>
              <a:rPr lang="en-US" sz="1800" dirty="0" err="1"/>
              <a:t>Mengetahui</a:t>
            </a:r>
            <a:r>
              <a:rPr lang="en-US" sz="1800" dirty="0"/>
              <a:t> </a:t>
            </a:r>
            <a:r>
              <a:rPr lang="en-US" sz="1800" dirty="0" err="1"/>
              <a:t>struktur</a:t>
            </a:r>
            <a:r>
              <a:rPr lang="en-US" sz="1800" dirty="0"/>
              <a:t> </a:t>
            </a:r>
            <a:r>
              <a:rPr lang="en-US" sz="1800" dirty="0" err="1"/>
              <a:t>keuangan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Bank </a:t>
            </a:r>
            <a:r>
              <a:rPr lang="en-US" sz="1800" dirty="0" err="1"/>
              <a:t>Suawesi</a:t>
            </a:r>
            <a:r>
              <a:rPr lang="en-US" sz="1800" dirty="0"/>
              <a:t> Tenggara?</a:t>
            </a:r>
          </a:p>
          <a:p>
            <a:pPr lvl="0"/>
            <a:r>
              <a:rPr lang="en-US" sz="1800" dirty="0" err="1" smtClean="0"/>
              <a:t>Mengetahui</a:t>
            </a:r>
            <a:r>
              <a:rPr lang="en-US" sz="1800" dirty="0" smtClean="0"/>
              <a:t> </a:t>
            </a:r>
            <a:r>
              <a:rPr lang="en-US" sz="1800" dirty="0" err="1"/>
              <a:t>struktur</a:t>
            </a:r>
            <a:r>
              <a:rPr lang="en-US" sz="1800" dirty="0"/>
              <a:t> modal </a:t>
            </a:r>
            <a:r>
              <a:rPr lang="en-US" sz="1800" dirty="0" err="1"/>
              <a:t>pada</a:t>
            </a:r>
            <a:r>
              <a:rPr lang="en-US" sz="1800" dirty="0"/>
              <a:t> Bank </a:t>
            </a:r>
            <a:r>
              <a:rPr lang="en-US" sz="1800" dirty="0" err="1"/>
              <a:t>Suawesi</a:t>
            </a:r>
            <a:r>
              <a:rPr lang="en-US" sz="1800" dirty="0"/>
              <a:t> Tenggara?</a:t>
            </a:r>
          </a:p>
          <a:p>
            <a:pPr lvl="0"/>
            <a:r>
              <a:rPr lang="en-US" sz="1800" dirty="0" err="1" smtClean="0"/>
              <a:t>Mengetahui</a:t>
            </a:r>
            <a:r>
              <a:rPr lang="en-US" sz="1800" dirty="0" smtClean="0"/>
              <a:t> </a:t>
            </a:r>
            <a:r>
              <a:rPr lang="en-US" sz="1800" dirty="0" err="1"/>
              <a:t>dan</a:t>
            </a:r>
            <a:r>
              <a:rPr lang="en-US" sz="1800" dirty="0"/>
              <a:t> </a:t>
            </a:r>
            <a:r>
              <a:rPr lang="en-US" sz="1800" dirty="0" err="1"/>
              <a:t>menganalisis</a:t>
            </a:r>
            <a:r>
              <a:rPr lang="en-US" sz="1800" dirty="0"/>
              <a:t> </a:t>
            </a:r>
            <a:r>
              <a:rPr lang="en-US" sz="1800" i="1" dirty="0" err="1"/>
              <a:t>teory</a:t>
            </a:r>
            <a:r>
              <a:rPr lang="en-US" sz="1800" i="1" dirty="0"/>
              <a:t> trade off</a:t>
            </a:r>
            <a:r>
              <a:rPr lang="en-US" sz="1800" dirty="0"/>
              <a:t> </a:t>
            </a:r>
            <a:r>
              <a:rPr lang="en-US" sz="1800" dirty="0" err="1"/>
              <a:t>biaya</a:t>
            </a:r>
            <a:r>
              <a:rPr lang="en-US" sz="1800" dirty="0"/>
              <a:t> </a:t>
            </a:r>
            <a:r>
              <a:rPr lang="en-US" sz="1800" dirty="0" err="1"/>
              <a:t>dan</a:t>
            </a:r>
            <a:r>
              <a:rPr lang="en-US" sz="1800" dirty="0"/>
              <a:t> </a:t>
            </a:r>
            <a:r>
              <a:rPr lang="en-US" sz="1800" dirty="0" err="1"/>
              <a:t>manfaat</a:t>
            </a:r>
            <a:r>
              <a:rPr lang="en-US" sz="1800" dirty="0"/>
              <a:t> </a:t>
            </a:r>
            <a:r>
              <a:rPr lang="en-US" sz="1800" dirty="0" err="1"/>
              <a:t>pada</a:t>
            </a:r>
            <a:r>
              <a:rPr lang="en-US" sz="1800" dirty="0"/>
              <a:t>    Bank </a:t>
            </a:r>
            <a:r>
              <a:rPr lang="en-US" sz="1800" dirty="0" err="1"/>
              <a:t>Suawesi</a:t>
            </a:r>
            <a:r>
              <a:rPr lang="en-US" sz="1800" dirty="0"/>
              <a:t> Tenggara?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433880"/>
            <a:ext cx="6871725" cy="725349"/>
          </a:xfrm>
        </p:spPr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n-US" b="1" dirty="0" err="1"/>
              <a:t>Manfaat</a:t>
            </a:r>
            <a:r>
              <a:rPr lang="en-US" b="1" dirty="0"/>
              <a:t> </a:t>
            </a:r>
            <a:r>
              <a:rPr lang="en-US" b="1" dirty="0" err="1"/>
              <a:t>Penelitan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1670" y="1197405"/>
            <a:ext cx="6871725" cy="3511061"/>
          </a:xfrm>
        </p:spPr>
        <p:txBody>
          <a:bodyPr>
            <a:normAutofit/>
          </a:bodyPr>
          <a:lstStyle/>
          <a:p>
            <a:pPr lvl="0"/>
            <a:r>
              <a:rPr lang="en-US" sz="1800" dirty="0" err="1"/>
              <a:t>Manfaat</a:t>
            </a:r>
            <a:r>
              <a:rPr lang="en-US" sz="1800" dirty="0"/>
              <a:t> </a:t>
            </a:r>
            <a:r>
              <a:rPr lang="en-US" sz="1800" dirty="0" err="1"/>
              <a:t>Teoritis</a:t>
            </a:r>
            <a:endParaRPr lang="en-US" sz="1800" dirty="0"/>
          </a:p>
          <a:p>
            <a:pPr lvl="0"/>
            <a:r>
              <a:rPr lang="en-US" sz="1800" dirty="0" err="1"/>
              <a:t>Manfaat</a:t>
            </a:r>
            <a:r>
              <a:rPr lang="en-US" sz="1800" dirty="0"/>
              <a:t> </a:t>
            </a:r>
            <a:r>
              <a:rPr lang="en-US" sz="1800" dirty="0" err="1"/>
              <a:t>Empiris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08800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433880"/>
            <a:ext cx="6871725" cy="725349"/>
          </a:xfrm>
        </p:spPr>
        <p:txBody>
          <a:bodyPr>
            <a:normAutofit/>
          </a:bodyPr>
          <a:lstStyle/>
          <a:p>
            <a:pPr lvl="1"/>
            <a:r>
              <a:rPr lang="en-US" b="1" dirty="0" err="1"/>
              <a:t>Ruang</a:t>
            </a:r>
            <a:r>
              <a:rPr lang="en-US" b="1" dirty="0"/>
              <a:t> </a:t>
            </a:r>
            <a:r>
              <a:rPr lang="en-US" b="1" dirty="0" err="1"/>
              <a:t>Lingkup</a:t>
            </a:r>
            <a:r>
              <a:rPr lang="en-US" b="1" dirty="0"/>
              <a:t> </a:t>
            </a:r>
            <a:r>
              <a:rPr lang="en-US" b="1" dirty="0" err="1"/>
              <a:t>Penelitian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1670" y="1197405"/>
            <a:ext cx="6871725" cy="351106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/>
              <a:t>	</a:t>
            </a:r>
            <a:r>
              <a:rPr lang="en-US" sz="1800" dirty="0" err="1" smtClean="0"/>
              <a:t>Penelitian</a:t>
            </a:r>
            <a:r>
              <a:rPr lang="en-US" sz="1800" dirty="0" smtClean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merupakan</a:t>
            </a:r>
            <a:r>
              <a:rPr lang="en-US" sz="1800" dirty="0"/>
              <a:t> </a:t>
            </a:r>
            <a:r>
              <a:rPr lang="en-US" sz="1800" dirty="0" err="1"/>
              <a:t>jenis</a:t>
            </a:r>
            <a:r>
              <a:rPr lang="en-US" sz="1800" dirty="0"/>
              <a:t> </a:t>
            </a:r>
            <a:r>
              <a:rPr lang="en-US" sz="1800" dirty="0" err="1"/>
              <a:t>penelitian</a:t>
            </a:r>
            <a:r>
              <a:rPr lang="en-US" sz="1800" dirty="0"/>
              <a:t> </a:t>
            </a:r>
            <a:r>
              <a:rPr lang="en-US" sz="1800" dirty="0" err="1"/>
              <a:t>deskriptif</a:t>
            </a:r>
            <a:r>
              <a:rPr lang="en-US" sz="1800" dirty="0"/>
              <a:t> </a:t>
            </a:r>
            <a:r>
              <a:rPr lang="en-US" sz="1800" dirty="0" err="1"/>
              <a:t>kuantitatif</a:t>
            </a:r>
            <a:r>
              <a:rPr lang="en-US" sz="1800" dirty="0"/>
              <a:t>. </a:t>
            </a:r>
            <a:r>
              <a:rPr lang="en-US" sz="1800" dirty="0" err="1"/>
              <a:t>Penelitian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dibatasi</a:t>
            </a:r>
            <a:r>
              <a:rPr lang="en-US" sz="1800" dirty="0"/>
              <a:t>  </a:t>
            </a:r>
            <a:r>
              <a:rPr lang="en-US" sz="1800" dirty="0" err="1"/>
              <a:t>terhadap</a:t>
            </a:r>
            <a:r>
              <a:rPr lang="en-US" sz="1800" dirty="0"/>
              <a:t> </a:t>
            </a:r>
            <a:r>
              <a:rPr lang="en-US" sz="1800" dirty="0" err="1"/>
              <a:t>variabel</a:t>
            </a:r>
            <a:r>
              <a:rPr lang="en-US" sz="1800" dirty="0"/>
              <a:t> </a:t>
            </a:r>
            <a:r>
              <a:rPr lang="en-US" sz="1800" dirty="0" err="1"/>
              <a:t>struktur</a:t>
            </a:r>
            <a:r>
              <a:rPr lang="en-US" sz="1800" dirty="0"/>
              <a:t> </a:t>
            </a:r>
            <a:r>
              <a:rPr lang="en-US" sz="1800" dirty="0" err="1"/>
              <a:t>keuangan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indikator</a:t>
            </a:r>
            <a:r>
              <a:rPr lang="en-US" sz="1800" dirty="0"/>
              <a:t> </a:t>
            </a:r>
            <a:r>
              <a:rPr lang="en-US" sz="1800" dirty="0" err="1"/>
              <a:t>rasio</a:t>
            </a:r>
            <a:r>
              <a:rPr lang="en-US" sz="1800" dirty="0"/>
              <a:t> </a:t>
            </a:r>
            <a:r>
              <a:rPr lang="en-US" sz="1800" dirty="0" err="1"/>
              <a:t>profitabilitas</a:t>
            </a:r>
            <a:r>
              <a:rPr lang="en-US" sz="1800" dirty="0"/>
              <a:t> </a:t>
            </a:r>
            <a:r>
              <a:rPr lang="en-US" sz="1800" dirty="0" err="1"/>
              <a:t>melalui</a:t>
            </a:r>
            <a:r>
              <a:rPr lang="en-US" sz="1800" dirty="0"/>
              <a:t> net profit margin, modal bank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 err="1"/>
              <a:t>indikator</a:t>
            </a:r>
            <a:r>
              <a:rPr lang="en-US" sz="1800" dirty="0"/>
              <a:t> </a:t>
            </a:r>
            <a:r>
              <a:rPr lang="en-US" sz="1800" dirty="0" err="1"/>
              <a:t>pengukuran</a:t>
            </a:r>
            <a:r>
              <a:rPr lang="en-US" sz="1800" dirty="0"/>
              <a:t> total modal </a:t>
            </a:r>
            <a:r>
              <a:rPr lang="en-US" sz="1800" dirty="0" err="1"/>
              <a:t>sendiri</a:t>
            </a:r>
            <a:r>
              <a:rPr lang="en-US" sz="1800" dirty="0"/>
              <a:t> </a:t>
            </a:r>
            <a:r>
              <a:rPr lang="en-US" sz="1800" dirty="0" err="1"/>
              <a:t>dan</a:t>
            </a:r>
            <a:r>
              <a:rPr lang="en-US" sz="1800" dirty="0"/>
              <a:t> total </a:t>
            </a:r>
            <a:r>
              <a:rPr lang="en-US" sz="1800" dirty="0" err="1"/>
              <a:t>pinjaman</a:t>
            </a:r>
            <a:r>
              <a:rPr lang="en-US" sz="1800" dirty="0"/>
              <a:t>, </a:t>
            </a:r>
            <a:r>
              <a:rPr lang="en-US" sz="1800" dirty="0" err="1"/>
              <a:t>biaya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 err="1"/>
              <a:t>komponen-komponen</a:t>
            </a:r>
            <a:r>
              <a:rPr lang="en-US" sz="1800" dirty="0"/>
              <a:t> </a:t>
            </a:r>
            <a:r>
              <a:rPr lang="en-US" sz="1800" dirty="0" err="1"/>
              <a:t>biaya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63792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1197405"/>
            <a:ext cx="7940660" cy="763525"/>
          </a:xfrm>
        </p:spPr>
        <p:txBody>
          <a:bodyPr>
            <a:normAutofit/>
          </a:bodyPr>
          <a:lstStyle/>
          <a:p>
            <a:r>
              <a:rPr lang="en-US" dirty="0" err="1" smtClean="0"/>
              <a:t>Kerangka</a:t>
            </a:r>
            <a:r>
              <a:rPr lang="en-US" dirty="0" smtClean="0"/>
              <a:t> </a:t>
            </a:r>
            <a:r>
              <a:rPr lang="en-US" dirty="0" err="1" smtClean="0"/>
              <a:t>Berfikir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059785" y="1960930"/>
            <a:ext cx="7394631" cy="1985166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	</a:t>
            </a:r>
            <a:r>
              <a:rPr lang="en-US" dirty="0" err="1" smtClean="0"/>
              <a:t>Lokasi</a:t>
            </a:r>
            <a:r>
              <a:rPr lang="en-US" dirty="0" smtClean="0"/>
              <a:t> </a:t>
            </a:r>
            <a:r>
              <a:rPr lang="en-US" dirty="0" err="1"/>
              <a:t>penelitian</a:t>
            </a:r>
            <a:r>
              <a:rPr lang="en-US" dirty="0"/>
              <a:t> kami </a:t>
            </a:r>
            <a:r>
              <a:rPr lang="en-US" dirty="0" err="1"/>
              <a:t>adalah</a:t>
            </a:r>
            <a:r>
              <a:rPr lang="en-US" dirty="0"/>
              <a:t> PT. Bank Pembangunan Daerah Sulawesi Tenggara. </a:t>
            </a:r>
            <a:r>
              <a:rPr lang="en-US" dirty="0" err="1"/>
              <a:t>Jenis</a:t>
            </a:r>
            <a:r>
              <a:rPr lang="en-US" dirty="0"/>
              <a:t> data yang di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data </a:t>
            </a:r>
            <a:r>
              <a:rPr lang="en-US" dirty="0" err="1"/>
              <a:t>kuantitatif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 smtClean="0"/>
              <a:t>keuangan</a:t>
            </a:r>
            <a:r>
              <a:rPr lang="en-US" dirty="0" smtClean="0"/>
              <a:t> </a:t>
            </a:r>
            <a:r>
              <a:rPr lang="en-US" dirty="0"/>
              <a:t>bank </a:t>
            </a:r>
            <a:r>
              <a:rPr lang="en-US" dirty="0" err="1"/>
              <a:t>sultra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5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terakhir</a:t>
            </a:r>
            <a:r>
              <a:rPr lang="en-US" dirty="0"/>
              <a:t>. </a:t>
            </a:r>
            <a:r>
              <a:rPr lang="en-US" dirty="0" err="1"/>
              <a:t>Peneltian</a:t>
            </a:r>
            <a:r>
              <a:rPr lang="en-US" dirty="0"/>
              <a:t> kami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teori</a:t>
            </a:r>
            <a:r>
              <a:rPr lang="en-US" dirty="0"/>
              <a:t> </a:t>
            </a:r>
            <a:r>
              <a:rPr lang="en-US" i="1" dirty="0"/>
              <a:t>trade off</a:t>
            </a:r>
            <a:r>
              <a:rPr lang="en-US" dirty="0"/>
              <a:t>.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 yang kami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, </a:t>
            </a:r>
            <a:r>
              <a:rPr lang="en-US" dirty="0" err="1"/>
              <a:t>struktur</a:t>
            </a:r>
            <a:r>
              <a:rPr lang="en-US" dirty="0"/>
              <a:t> modal, </a:t>
            </a:r>
            <a:r>
              <a:rPr lang="en-US" dirty="0" err="1"/>
              <a:t>biaya-biaya</a:t>
            </a:r>
            <a:r>
              <a:rPr lang="en-US" dirty="0"/>
              <a:t> (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laba</a:t>
            </a:r>
            <a:r>
              <a:rPr lang="en-US" dirty="0"/>
              <a:t> </a:t>
            </a:r>
            <a:r>
              <a:rPr lang="en-US" dirty="0" err="1"/>
              <a:t>rugi</a:t>
            </a:r>
            <a:r>
              <a:rPr lang="en-US" dirty="0"/>
              <a:t>) 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manfaat</a:t>
            </a:r>
            <a:r>
              <a:rPr lang="en-US" dirty="0"/>
              <a:t> (</a:t>
            </a:r>
            <a:r>
              <a:rPr lang="en-US" dirty="0" err="1"/>
              <a:t>laba</a:t>
            </a:r>
            <a:r>
              <a:rPr lang="en-US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1197405"/>
            <a:ext cx="7940660" cy="763525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</a:rPr>
              <a:t>METODE PENELITIAN</a:t>
            </a:r>
            <a:endParaRPr lang="en-US" dirty="0">
              <a:effectLst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1059785" y="2113635"/>
            <a:ext cx="7394631" cy="2137869"/>
          </a:xfrm>
        </p:spPr>
        <p:txBody>
          <a:bodyPr>
            <a:normAutofit/>
          </a:bodyPr>
          <a:lstStyle/>
          <a:p>
            <a:pPr marL="112713" lvl="1" indent="-112713"/>
            <a:r>
              <a:rPr lang="en-US" sz="1400" dirty="0" smtClean="0">
                <a:solidFill>
                  <a:schemeClr val="bg1"/>
                </a:solidFill>
              </a:rPr>
              <a:t>Object </a:t>
            </a:r>
            <a:r>
              <a:rPr lang="en-US" sz="1400" dirty="0" err="1" smtClean="0">
                <a:solidFill>
                  <a:schemeClr val="bg1"/>
                </a:solidFill>
              </a:rPr>
              <a:t>Penelitian</a:t>
            </a:r>
            <a:r>
              <a:rPr lang="en-US" sz="1400" dirty="0" smtClean="0">
                <a:solidFill>
                  <a:schemeClr val="bg1"/>
                </a:solidFill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  <a:p>
            <a:pPr marL="233363" algn="just"/>
            <a:r>
              <a:rPr lang="en-US" sz="1400" dirty="0" err="1"/>
              <a:t>Objek</a:t>
            </a:r>
            <a:r>
              <a:rPr lang="en-US" sz="1400" dirty="0"/>
              <a:t> </a:t>
            </a:r>
            <a:r>
              <a:rPr lang="en-US" sz="1400" dirty="0" err="1"/>
              <a:t>penelitian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dilakukan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</a:t>
            </a:r>
            <a:r>
              <a:rPr lang="en-US" sz="1400" dirty="0" err="1"/>
              <a:t>PT.Bank</a:t>
            </a:r>
            <a:r>
              <a:rPr lang="en-US" sz="1400" dirty="0"/>
              <a:t> Pembangunan Daerah Sulawesi Tenggara </a:t>
            </a:r>
            <a:r>
              <a:rPr lang="en-US" sz="1400" dirty="0" err="1"/>
              <a:t>kantor</a:t>
            </a:r>
            <a:r>
              <a:rPr lang="en-US" sz="1400" dirty="0"/>
              <a:t> </a:t>
            </a:r>
            <a:r>
              <a:rPr lang="en-US" sz="1400" dirty="0" err="1"/>
              <a:t>pusat</a:t>
            </a:r>
            <a:r>
              <a:rPr lang="en-US" sz="1400" dirty="0"/>
              <a:t> </a:t>
            </a:r>
            <a:r>
              <a:rPr lang="en-US" sz="1400" dirty="0" err="1"/>
              <a:t>Jl.Mayjend</a:t>
            </a:r>
            <a:r>
              <a:rPr lang="en-US" sz="1400" dirty="0"/>
              <a:t> </a:t>
            </a:r>
            <a:r>
              <a:rPr lang="en-US" sz="1400" dirty="0" err="1"/>
              <a:t>Soetoyo</a:t>
            </a:r>
            <a:r>
              <a:rPr lang="en-US" sz="1400" dirty="0"/>
              <a:t> no.95 </a:t>
            </a:r>
            <a:r>
              <a:rPr lang="en-US" sz="1400" dirty="0" err="1" smtClean="0"/>
              <a:t>Kendari</a:t>
            </a:r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2795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433880"/>
            <a:ext cx="6871725" cy="725349"/>
          </a:xfrm>
        </p:spPr>
        <p:txBody>
          <a:bodyPr>
            <a:normAutofit/>
          </a:bodyPr>
          <a:lstStyle/>
          <a:p>
            <a:pPr lvl="1"/>
            <a:r>
              <a:rPr lang="en-US" b="1" dirty="0" err="1"/>
              <a:t>Jenis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Sumber</a:t>
            </a:r>
            <a:r>
              <a:rPr lang="en-US" b="1" dirty="0"/>
              <a:t> </a:t>
            </a:r>
            <a:r>
              <a:rPr lang="en-US" b="1" dirty="0" smtClean="0"/>
              <a:t>Data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1670" y="1197405"/>
            <a:ext cx="6871725" cy="3511061"/>
          </a:xfrm>
        </p:spPr>
        <p:txBody>
          <a:bodyPr>
            <a:normAutofit fontScale="92500" lnSpcReduction="10000"/>
          </a:bodyPr>
          <a:lstStyle/>
          <a:p>
            <a:pPr marL="0" lvl="2" indent="0" algn="just">
              <a:buNone/>
            </a:pPr>
            <a:r>
              <a:rPr lang="en-US" b="1" dirty="0" err="1" smtClean="0"/>
              <a:t>Jenis</a:t>
            </a:r>
            <a:r>
              <a:rPr lang="en-US" b="1" dirty="0" smtClean="0"/>
              <a:t> Data</a:t>
            </a:r>
          </a:p>
          <a:p>
            <a:pPr marL="0" lvl="2" indent="0" algn="just">
              <a:buNone/>
            </a:pPr>
            <a:r>
              <a:rPr lang="en-US" b="1" dirty="0" smtClean="0"/>
              <a:t>	 </a:t>
            </a:r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/>
              <a:t>data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data </a:t>
            </a:r>
            <a:r>
              <a:rPr lang="en-US" dirty="0" err="1"/>
              <a:t>kuantiatif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data yang </a:t>
            </a:r>
            <a:r>
              <a:rPr lang="en-US" dirty="0" err="1"/>
              <a:t>berbentuk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, data di </a:t>
            </a:r>
            <a:r>
              <a:rPr lang="en-US" dirty="0" err="1"/>
              <a:t>maksud</a:t>
            </a:r>
            <a:r>
              <a:rPr lang="en-US" dirty="0"/>
              <a:t> </a:t>
            </a:r>
            <a:r>
              <a:rPr lang="en-US" dirty="0" err="1"/>
              <a:t>meliputi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, </a:t>
            </a: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modal.biaya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 smtClean="0"/>
              <a:t>harga</a:t>
            </a:r>
            <a:r>
              <a:rPr lang="en-US" dirty="0" smtClean="0"/>
              <a:t>.</a:t>
            </a:r>
          </a:p>
          <a:p>
            <a:pPr marL="0" lvl="2" indent="0" algn="just">
              <a:buNone/>
            </a:pPr>
            <a:r>
              <a:rPr lang="en-US" b="1" dirty="0" err="1"/>
              <a:t>Sumber</a:t>
            </a:r>
            <a:r>
              <a:rPr lang="en-US" b="1" dirty="0"/>
              <a:t> Data</a:t>
            </a:r>
            <a:endParaRPr lang="en-US" dirty="0"/>
          </a:p>
          <a:p>
            <a:pPr marL="0" lvl="2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Sumber</a:t>
            </a:r>
            <a:r>
              <a:rPr lang="en-US" dirty="0" smtClean="0"/>
              <a:t> </a:t>
            </a:r>
            <a:r>
              <a:rPr lang="en-US" dirty="0"/>
              <a:t>data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data </a:t>
            </a:r>
            <a:r>
              <a:rPr lang="en-US" dirty="0" err="1"/>
              <a:t>sekunder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data yang </a:t>
            </a:r>
            <a:r>
              <a:rPr lang="en-US" dirty="0" err="1"/>
              <a:t>bersumber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data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</a:t>
            </a:r>
            <a:r>
              <a:rPr lang="en-US" dirty="0" err="1"/>
              <a:t>pelengkap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. Data </a:t>
            </a:r>
            <a:r>
              <a:rPr lang="en-US" dirty="0" err="1"/>
              <a:t>dimaksud</a:t>
            </a:r>
            <a:r>
              <a:rPr lang="en-US" dirty="0"/>
              <a:t> </a:t>
            </a:r>
            <a:r>
              <a:rPr lang="en-US" dirty="0" err="1"/>
              <a:t>meliputi</a:t>
            </a:r>
            <a:r>
              <a:rPr lang="en-US" dirty="0"/>
              <a:t>, </a:t>
            </a:r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bank </a:t>
            </a:r>
            <a:r>
              <a:rPr lang="en-US" dirty="0" err="1"/>
              <a:t>tersebut</a:t>
            </a:r>
            <a:endParaRPr lang="en-US" dirty="0"/>
          </a:p>
          <a:p>
            <a:pPr marL="0" indent="0" algn="just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26341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128470"/>
            <a:ext cx="6871725" cy="725349"/>
          </a:xfrm>
        </p:spPr>
        <p:txBody>
          <a:bodyPr>
            <a:normAutofit/>
          </a:bodyPr>
          <a:lstStyle/>
          <a:p>
            <a:pPr lvl="1"/>
            <a:r>
              <a:rPr lang="en-US" b="1" dirty="0" err="1"/>
              <a:t>Jenis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Sumber</a:t>
            </a:r>
            <a:r>
              <a:rPr lang="en-US" b="1" dirty="0"/>
              <a:t> </a:t>
            </a:r>
            <a:r>
              <a:rPr lang="en-US" b="1" dirty="0" smtClean="0"/>
              <a:t>Data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1670" y="891995"/>
            <a:ext cx="6871725" cy="4251505"/>
          </a:xfrm>
        </p:spPr>
        <p:txBody>
          <a:bodyPr>
            <a:noAutofit/>
          </a:bodyPr>
          <a:lstStyle/>
          <a:p>
            <a:pPr marL="0" lvl="2" indent="0" algn="just">
              <a:lnSpc>
                <a:spcPct val="170000"/>
              </a:lnSpc>
              <a:buNone/>
            </a:pPr>
            <a:r>
              <a:rPr lang="en-US" sz="1200" b="1" dirty="0" err="1"/>
              <a:t>Teknik</a:t>
            </a:r>
            <a:r>
              <a:rPr lang="en-US" sz="1200" b="1" dirty="0"/>
              <a:t> </a:t>
            </a:r>
            <a:r>
              <a:rPr lang="en-US" sz="1200" b="1" dirty="0" err="1"/>
              <a:t>Pengumpulan</a:t>
            </a:r>
            <a:r>
              <a:rPr lang="en-US" sz="1200" b="1" dirty="0"/>
              <a:t> </a:t>
            </a:r>
            <a:r>
              <a:rPr lang="en-US" sz="1200" b="1" dirty="0" smtClean="0"/>
              <a:t>Data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200" dirty="0" smtClean="0"/>
              <a:t>	</a:t>
            </a:r>
            <a:r>
              <a:rPr lang="en-US" sz="1200" dirty="0" err="1" smtClean="0"/>
              <a:t>Pengumpulan</a:t>
            </a:r>
            <a:r>
              <a:rPr lang="en-US" sz="1200" dirty="0" smtClean="0"/>
              <a:t> </a:t>
            </a:r>
            <a:r>
              <a:rPr lang="en-US" sz="1200" dirty="0"/>
              <a:t>data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teknik</a:t>
            </a:r>
            <a:r>
              <a:rPr lang="en-US" sz="1200" dirty="0"/>
              <a:t> </a:t>
            </a:r>
            <a:r>
              <a:rPr lang="en-US" sz="1200" dirty="0" err="1"/>
              <a:t>pencarian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media </a:t>
            </a:r>
            <a:r>
              <a:rPr lang="en-US" sz="1200" dirty="0" err="1"/>
              <a:t>informasi</a:t>
            </a:r>
            <a:r>
              <a:rPr lang="en-US" sz="1200" dirty="0"/>
              <a:t>, </a:t>
            </a:r>
            <a:r>
              <a:rPr lang="en-US" sz="1200" dirty="0" err="1"/>
              <a:t>mengumpulkan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sumber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bahan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acuan</a:t>
            </a:r>
            <a:r>
              <a:rPr lang="en-US" sz="1200" dirty="0"/>
              <a:t> yang </a:t>
            </a:r>
            <a:r>
              <a:rPr lang="en-US" sz="1200" dirty="0" err="1"/>
              <a:t>dapat</a:t>
            </a:r>
            <a:r>
              <a:rPr lang="en-US" sz="1200" dirty="0"/>
              <a:t> di </a:t>
            </a:r>
            <a:r>
              <a:rPr lang="en-US" sz="1200" dirty="0" err="1"/>
              <a:t>perbantukan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dianggap</a:t>
            </a:r>
            <a:r>
              <a:rPr lang="en-US" sz="1200" dirty="0"/>
              <a:t> </a:t>
            </a:r>
            <a:r>
              <a:rPr lang="en-US" sz="1200" dirty="0" err="1"/>
              <a:t>relevan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judul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 smtClean="0"/>
              <a:t>.</a:t>
            </a:r>
          </a:p>
          <a:p>
            <a:pPr marL="0" lvl="1" indent="0" algn="just">
              <a:lnSpc>
                <a:spcPct val="170000"/>
              </a:lnSpc>
              <a:buNone/>
            </a:pPr>
            <a:r>
              <a:rPr lang="en-US" sz="1200" b="1" dirty="0" err="1"/>
              <a:t>Prosedur</a:t>
            </a:r>
            <a:r>
              <a:rPr lang="en-US" sz="1200" b="1" dirty="0"/>
              <a:t> </a:t>
            </a:r>
            <a:r>
              <a:rPr lang="en-US" sz="1200" b="1" dirty="0" err="1"/>
              <a:t>Pengolahan</a:t>
            </a:r>
            <a:r>
              <a:rPr lang="en-US" sz="1200" b="1" dirty="0"/>
              <a:t> Data</a:t>
            </a:r>
            <a:endParaRPr lang="en-US" sz="1200" dirty="0"/>
          </a:p>
          <a:p>
            <a:pPr algn="just">
              <a:lnSpc>
                <a:spcPct val="170000"/>
              </a:lnSpc>
            </a:pPr>
            <a:r>
              <a:rPr lang="en-US" sz="1200" dirty="0" err="1"/>
              <a:t>Prosedur</a:t>
            </a:r>
            <a:r>
              <a:rPr lang="en-US" sz="1200" dirty="0"/>
              <a:t> </a:t>
            </a:r>
            <a:r>
              <a:rPr lang="en-US" sz="1200" dirty="0" err="1"/>
              <a:t>pengolahan</a:t>
            </a:r>
            <a:r>
              <a:rPr lang="en-US" sz="1200" dirty="0"/>
              <a:t> data </a:t>
            </a:r>
            <a:r>
              <a:rPr lang="en-US" sz="1200" dirty="0" err="1"/>
              <a:t>dilakukan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berikut</a:t>
            </a:r>
            <a:r>
              <a:rPr lang="en-US" sz="1200" dirty="0"/>
              <a:t>:</a:t>
            </a:r>
          </a:p>
          <a:p>
            <a:pPr lvl="0" algn="just">
              <a:lnSpc>
                <a:spcPct val="170000"/>
              </a:lnSpc>
            </a:pPr>
            <a:r>
              <a:rPr lang="en-US" sz="1200" dirty="0"/>
              <a:t>Editing </a:t>
            </a:r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en-US" sz="1200" dirty="0" err="1"/>
              <a:t>mengoreksi</a:t>
            </a:r>
            <a:r>
              <a:rPr lang="en-US" sz="1200" dirty="0"/>
              <a:t> </a:t>
            </a:r>
            <a:r>
              <a:rPr lang="en-US" sz="1200" dirty="0" err="1"/>
              <a:t>kembali</a:t>
            </a:r>
            <a:r>
              <a:rPr lang="en-US" sz="1200" dirty="0"/>
              <a:t> </a:t>
            </a:r>
            <a:r>
              <a:rPr lang="en-US" sz="1200" dirty="0" err="1"/>
              <a:t>keberadaan</a:t>
            </a:r>
            <a:r>
              <a:rPr lang="en-US" sz="1200" dirty="0"/>
              <a:t> data yang </a:t>
            </a:r>
            <a:r>
              <a:rPr lang="en-US" sz="1200" dirty="0" err="1"/>
              <a:t>diperoleh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pelaksanaan</a:t>
            </a:r>
            <a:r>
              <a:rPr lang="en-US" sz="1200" dirty="0"/>
              <a:t>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 data primer </a:t>
            </a:r>
            <a:r>
              <a:rPr lang="en-US" sz="1200" dirty="0" err="1"/>
              <a:t>maupun</a:t>
            </a:r>
            <a:r>
              <a:rPr lang="en-US" sz="1200" dirty="0"/>
              <a:t> data </a:t>
            </a:r>
            <a:r>
              <a:rPr lang="en-US" sz="1200" dirty="0" err="1"/>
              <a:t>sekunder</a:t>
            </a:r>
            <a:r>
              <a:rPr lang="en-US" sz="1200" dirty="0"/>
              <a:t>.</a:t>
            </a:r>
          </a:p>
          <a:p>
            <a:pPr lvl="0" algn="just">
              <a:lnSpc>
                <a:spcPct val="170000"/>
              </a:lnSpc>
            </a:pPr>
            <a:r>
              <a:rPr lang="en-US" sz="1200" dirty="0" err="1"/>
              <a:t>Tabulasi</a:t>
            </a:r>
            <a:r>
              <a:rPr lang="en-US" sz="1200" dirty="0"/>
              <a:t> </a:t>
            </a:r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en-US" sz="1200" dirty="0" err="1"/>
              <a:t>memasukan</a:t>
            </a:r>
            <a:r>
              <a:rPr lang="en-US" sz="1200" dirty="0"/>
              <a:t> data yang </a:t>
            </a:r>
            <a:r>
              <a:rPr lang="en-US" sz="1200" dirty="0" err="1"/>
              <a:t>telah</a:t>
            </a:r>
            <a:r>
              <a:rPr lang="en-US" sz="1200" dirty="0"/>
              <a:t> di edit </a:t>
            </a:r>
            <a:r>
              <a:rPr lang="en-US" sz="1200" dirty="0" err="1"/>
              <a:t>kebenarannya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tabel</a:t>
            </a:r>
            <a:r>
              <a:rPr lang="en-US" sz="1200" dirty="0"/>
              <a:t> </a:t>
            </a:r>
            <a:r>
              <a:rPr lang="en-US" sz="1200" dirty="0" err="1"/>
              <a:t>tertentu</a:t>
            </a:r>
            <a:r>
              <a:rPr lang="en-US" sz="1200" dirty="0"/>
              <a:t> </a:t>
            </a:r>
            <a:r>
              <a:rPr lang="en-US" sz="1200" dirty="0" err="1"/>
              <a:t>sesuai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kategori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peruntukannya</a:t>
            </a:r>
            <a:r>
              <a:rPr lang="en-US" sz="1200" dirty="0"/>
              <a:t>.</a:t>
            </a:r>
          </a:p>
          <a:p>
            <a:pPr lvl="0" algn="just">
              <a:lnSpc>
                <a:spcPct val="170000"/>
              </a:lnSpc>
            </a:pPr>
            <a:r>
              <a:rPr lang="en-US" sz="1200" dirty="0" err="1"/>
              <a:t>Interpretasi</a:t>
            </a:r>
            <a:r>
              <a:rPr lang="en-US" sz="1200" dirty="0"/>
              <a:t> </a:t>
            </a:r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en-US" sz="1200" dirty="0" err="1"/>
              <a:t>menjelaskan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processing data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dijadikan</a:t>
            </a:r>
            <a:r>
              <a:rPr lang="en-US" sz="1200" dirty="0"/>
              <a:t> </a:t>
            </a:r>
            <a:r>
              <a:rPr lang="en-US" sz="1200" dirty="0" err="1"/>
              <a:t>dasar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pengujian</a:t>
            </a:r>
            <a:r>
              <a:rPr lang="en-US" sz="1200" dirty="0"/>
              <a:t> </a:t>
            </a:r>
            <a:r>
              <a:rPr lang="en-US" sz="1200" dirty="0" err="1"/>
              <a:t>hipotesis</a:t>
            </a:r>
            <a:r>
              <a:rPr lang="en-US" sz="1200" dirty="0"/>
              <a:t>, </a:t>
            </a:r>
            <a:r>
              <a:rPr lang="en-US" sz="1200" dirty="0" err="1"/>
              <a:t>pembahasan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</a:t>
            </a:r>
            <a:r>
              <a:rPr lang="en-US" sz="1200" dirty="0" err="1"/>
              <a:t>penelitian</a:t>
            </a:r>
            <a:r>
              <a:rPr lang="en-US" sz="1200" dirty="0"/>
              <a:t>,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penarikan</a:t>
            </a:r>
            <a:r>
              <a:rPr lang="en-US" sz="1200" dirty="0"/>
              <a:t> </a:t>
            </a:r>
            <a:r>
              <a:rPr lang="en-US" sz="1200" dirty="0" err="1"/>
              <a:t>kesimpulan</a:t>
            </a:r>
            <a:r>
              <a:rPr lang="en-US" sz="1200" dirty="0"/>
              <a:t>.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24090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128470"/>
            <a:ext cx="6871725" cy="725349"/>
          </a:xfrm>
        </p:spPr>
        <p:txBody>
          <a:bodyPr>
            <a:normAutofit/>
          </a:bodyPr>
          <a:lstStyle/>
          <a:p>
            <a:pPr lvl="1"/>
            <a:r>
              <a:rPr lang="en-US" b="1" dirty="0" err="1"/>
              <a:t>Jenis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Sumber</a:t>
            </a:r>
            <a:r>
              <a:rPr lang="en-US" b="1" dirty="0"/>
              <a:t> </a:t>
            </a:r>
            <a:r>
              <a:rPr lang="en-US" b="1" dirty="0" smtClean="0"/>
              <a:t>Data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1670" y="891995"/>
            <a:ext cx="6871725" cy="4251505"/>
          </a:xfrm>
        </p:spPr>
        <p:txBody>
          <a:bodyPr>
            <a:noAutofit/>
          </a:bodyPr>
          <a:lstStyle/>
          <a:p>
            <a:pPr marL="0" lvl="1" indent="0" algn="just">
              <a:lnSpc>
                <a:spcPct val="170000"/>
              </a:lnSpc>
              <a:buNone/>
            </a:pPr>
            <a:r>
              <a:rPr lang="en-US" b="1" dirty="0" err="1"/>
              <a:t>Teknik</a:t>
            </a:r>
            <a:r>
              <a:rPr lang="en-US" b="1" dirty="0"/>
              <a:t> </a:t>
            </a:r>
            <a:r>
              <a:rPr lang="en-US" b="1" dirty="0" err="1"/>
              <a:t>Analisis</a:t>
            </a:r>
            <a:r>
              <a:rPr lang="en-US" b="1" dirty="0"/>
              <a:t> Data</a:t>
            </a:r>
            <a:endParaRPr lang="en-US" dirty="0"/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1200" dirty="0" smtClean="0"/>
              <a:t>	</a:t>
            </a:r>
            <a:r>
              <a:rPr lang="en-US" sz="1200" dirty="0" err="1" smtClean="0"/>
              <a:t>Dalam</a:t>
            </a:r>
            <a:r>
              <a:rPr lang="en-US" sz="1200" dirty="0" smtClean="0"/>
              <a:t>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analisis</a:t>
            </a:r>
            <a:r>
              <a:rPr lang="en-US" sz="1200" dirty="0"/>
              <a:t> data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deskriptif</a:t>
            </a:r>
            <a:r>
              <a:rPr lang="en-US" sz="1200" dirty="0"/>
              <a:t> </a:t>
            </a:r>
            <a:r>
              <a:rPr lang="en-US" sz="1200" dirty="0" err="1"/>
              <a:t>kuantitatif</a:t>
            </a:r>
            <a:r>
              <a:rPr lang="en-US" sz="1200" dirty="0"/>
              <a:t>.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penelitian</a:t>
            </a:r>
            <a:r>
              <a:rPr lang="en-US" sz="1200" dirty="0"/>
              <a:t> yang </a:t>
            </a:r>
            <a:r>
              <a:rPr lang="en-US" sz="1200" dirty="0" err="1"/>
              <a:t>bertujuan</a:t>
            </a:r>
            <a:r>
              <a:rPr lang="en-US" sz="1200" dirty="0"/>
              <a:t> </a:t>
            </a:r>
            <a:r>
              <a:rPr lang="en-US" sz="1200" dirty="0" err="1"/>
              <a:t>menjelaskan</a:t>
            </a:r>
            <a:r>
              <a:rPr lang="en-US" sz="1200" dirty="0"/>
              <a:t> </a:t>
            </a:r>
            <a:r>
              <a:rPr lang="en-US" sz="1200" dirty="0" err="1"/>
              <a:t>fenomena</a:t>
            </a:r>
            <a:r>
              <a:rPr lang="en-US" sz="1200" dirty="0"/>
              <a:t> yang </a:t>
            </a:r>
            <a:r>
              <a:rPr lang="en-US" sz="1200" dirty="0" err="1"/>
              <a:t>ada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angka-angka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mencandarkan</a:t>
            </a:r>
            <a:r>
              <a:rPr lang="en-US" sz="1200" dirty="0"/>
              <a:t> </a:t>
            </a:r>
            <a:r>
              <a:rPr lang="en-US" sz="1200" dirty="0" err="1"/>
              <a:t>karakteristik</a:t>
            </a:r>
            <a:r>
              <a:rPr lang="en-US" sz="1200" dirty="0"/>
              <a:t> </a:t>
            </a:r>
            <a:r>
              <a:rPr lang="en-US" sz="1200" dirty="0" err="1"/>
              <a:t>individu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kelompok</a:t>
            </a:r>
            <a:r>
              <a:rPr lang="en-US" sz="1200" dirty="0"/>
              <a:t> (</a:t>
            </a:r>
            <a:r>
              <a:rPr lang="en-US" sz="1200" dirty="0" err="1"/>
              <a:t>Syamsudin</a:t>
            </a:r>
            <a:r>
              <a:rPr lang="en-US" sz="1200" dirty="0"/>
              <a:t> &amp; </a:t>
            </a:r>
            <a:r>
              <a:rPr lang="en-US" sz="1200" dirty="0" err="1"/>
              <a:t>Damaianti</a:t>
            </a:r>
            <a:r>
              <a:rPr lang="en-US" sz="1200" dirty="0"/>
              <a:t>: 2011).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menilai</a:t>
            </a:r>
            <a:r>
              <a:rPr lang="en-US" sz="1200" dirty="0"/>
              <a:t> </a:t>
            </a:r>
            <a:r>
              <a:rPr lang="en-US" sz="1200" dirty="0" err="1"/>
              <a:t>sifat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kondisi-kondisi</a:t>
            </a:r>
            <a:r>
              <a:rPr lang="en-US" sz="1200" dirty="0"/>
              <a:t> yang </a:t>
            </a:r>
            <a:r>
              <a:rPr lang="en-US" sz="1200" dirty="0" err="1"/>
              <a:t>tampak</a:t>
            </a:r>
            <a:r>
              <a:rPr lang="en-US" sz="1200" dirty="0"/>
              <a:t>. </a:t>
            </a:r>
            <a:r>
              <a:rPr lang="en-US" sz="1200" dirty="0" err="1"/>
              <a:t>Tujuan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penelitian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dibatasi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menggambarkan</a:t>
            </a:r>
            <a:r>
              <a:rPr lang="en-US" sz="1200" dirty="0"/>
              <a:t> </a:t>
            </a:r>
            <a:r>
              <a:rPr lang="en-US" sz="1200" dirty="0" err="1"/>
              <a:t>karakteristik</a:t>
            </a:r>
            <a:r>
              <a:rPr lang="en-US" sz="1200" dirty="0"/>
              <a:t> </a:t>
            </a:r>
            <a:r>
              <a:rPr lang="en-US" sz="1200" dirty="0" err="1"/>
              <a:t>sesuatu</a:t>
            </a:r>
            <a:r>
              <a:rPr lang="en-US" sz="1200" dirty="0"/>
              <a:t> </a:t>
            </a:r>
            <a:r>
              <a:rPr lang="en-US" sz="1200" dirty="0" err="1"/>
              <a:t>sebagaimana</a:t>
            </a:r>
            <a:r>
              <a:rPr lang="en-US" sz="1200" dirty="0"/>
              <a:t> </a:t>
            </a:r>
            <a:r>
              <a:rPr lang="en-US" sz="1200" dirty="0" err="1"/>
              <a:t>adanya</a:t>
            </a:r>
            <a:r>
              <a:rPr lang="en-US" sz="1200" dirty="0"/>
              <a:t>. </a:t>
            </a:r>
            <a:r>
              <a:rPr lang="en-US" sz="1200" dirty="0" err="1"/>
              <a:t>Teknik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statistik</a:t>
            </a:r>
            <a:r>
              <a:rPr lang="en-US" sz="1200" dirty="0"/>
              <a:t> </a:t>
            </a:r>
            <a:r>
              <a:rPr lang="en-US" sz="1200" dirty="0" err="1"/>
              <a:t>deskriptif</a:t>
            </a:r>
            <a:r>
              <a:rPr lang="en-US" sz="1200" dirty="0"/>
              <a:t>.	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17918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128470"/>
            <a:ext cx="6871725" cy="725349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tx1"/>
                </a:solidFill>
                <a:effectLst/>
              </a:rPr>
              <a:t>Analisis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statistik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deskriptif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dapat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dibedakan</a:t>
            </a:r>
            <a:r>
              <a:rPr lang="en-US" dirty="0">
                <a:solidFill>
                  <a:schemeClr val="tx1"/>
                </a:solidFill>
                <a:effectLst/>
              </a:rPr>
              <a:t> </a:t>
            </a:r>
            <a:r>
              <a:rPr lang="en-US" dirty="0" err="1">
                <a:solidFill>
                  <a:schemeClr val="tx1"/>
                </a:solidFill>
                <a:effectLst/>
              </a:rPr>
              <a:t>menjadi</a:t>
            </a:r>
            <a:r>
              <a:rPr lang="en-US" dirty="0">
                <a:solidFill>
                  <a:schemeClr val="tx1"/>
                </a:solidFill>
                <a:effectLst/>
              </a:rPr>
              <a:t> 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1670" y="1044700"/>
            <a:ext cx="6871725" cy="425150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200" b="1" dirty="0" smtClean="0"/>
              <a:t>1. </a:t>
            </a:r>
            <a:r>
              <a:rPr lang="en-US" sz="1200" b="1" dirty="0" err="1" smtClean="0"/>
              <a:t>Analisis</a:t>
            </a:r>
            <a:r>
              <a:rPr lang="en-US" sz="1200" b="1" dirty="0" smtClean="0"/>
              <a:t> </a:t>
            </a:r>
            <a:r>
              <a:rPr lang="en-US" sz="1200" b="1" dirty="0" err="1"/>
              <a:t>Potret</a:t>
            </a:r>
            <a:r>
              <a:rPr lang="en-US" sz="1200" b="1" dirty="0"/>
              <a:t> Data</a:t>
            </a:r>
            <a:endParaRPr lang="en-US" sz="1200" dirty="0"/>
          </a:p>
          <a:p>
            <a:pPr marL="173038" indent="-173038">
              <a:buNone/>
            </a:pPr>
            <a:r>
              <a:rPr lang="en-US" sz="1200" dirty="0" smtClean="0"/>
              <a:t>		</a:t>
            </a:r>
            <a:r>
              <a:rPr lang="en-US" sz="1200" dirty="0" err="1" smtClean="0"/>
              <a:t>Potret</a:t>
            </a:r>
            <a:r>
              <a:rPr lang="en-US" sz="1200" dirty="0" smtClean="0"/>
              <a:t> </a:t>
            </a:r>
            <a:r>
              <a:rPr lang="en-US" sz="1200" dirty="0"/>
              <a:t>data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perhitungan</a:t>
            </a:r>
            <a:r>
              <a:rPr lang="en-US" sz="1200" dirty="0"/>
              <a:t> </a:t>
            </a:r>
            <a:r>
              <a:rPr lang="en-US" sz="1200" dirty="0" err="1"/>
              <a:t>frekuensi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 smtClean="0"/>
              <a:t>suatu</a:t>
            </a:r>
            <a:r>
              <a:rPr lang="en-US" sz="1200" dirty="0"/>
              <a:t> </a:t>
            </a:r>
            <a:r>
              <a:rPr lang="en-US" sz="1200" dirty="0" err="1" smtClean="0"/>
              <a:t>variabel</a:t>
            </a:r>
            <a:r>
              <a:rPr lang="en-US" sz="1200" dirty="0"/>
              <a:t>.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disajikan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jumlah</a:t>
            </a:r>
            <a:r>
              <a:rPr lang="en-US" sz="1200" dirty="0"/>
              <a:t> </a:t>
            </a:r>
            <a:r>
              <a:rPr lang="en-US" sz="1200" i="1" dirty="0"/>
              <a:t>absolute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presentase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keseluruhan</a:t>
            </a:r>
            <a:r>
              <a:rPr lang="en-US" sz="1200" dirty="0"/>
              <a:t>.</a:t>
            </a:r>
          </a:p>
          <a:p>
            <a:pPr marL="0" lvl="0" indent="0">
              <a:buNone/>
            </a:pPr>
            <a:r>
              <a:rPr lang="en-US" sz="1200" b="1" dirty="0" smtClean="0"/>
              <a:t>2. </a:t>
            </a:r>
            <a:r>
              <a:rPr lang="en-US" sz="1200" b="1" dirty="0" err="1" smtClean="0"/>
              <a:t>Analisis</a:t>
            </a:r>
            <a:r>
              <a:rPr lang="en-US" sz="1200" b="1" dirty="0" smtClean="0"/>
              <a:t> </a:t>
            </a:r>
            <a:r>
              <a:rPr lang="en-US" sz="1200" b="1" dirty="0"/>
              <a:t>Data </a:t>
            </a:r>
            <a:r>
              <a:rPr lang="en-US" sz="1200" b="1" dirty="0" err="1"/>
              <a:t>Deret</a:t>
            </a:r>
            <a:r>
              <a:rPr lang="en-US" sz="1200" b="1" dirty="0"/>
              <a:t> </a:t>
            </a:r>
            <a:r>
              <a:rPr lang="en-US" sz="1200" b="1" dirty="0" err="1"/>
              <a:t>Waktu</a:t>
            </a:r>
            <a:r>
              <a:rPr lang="en-US" sz="1200" b="1" dirty="0"/>
              <a:t> </a:t>
            </a:r>
            <a:r>
              <a:rPr lang="en-US" sz="1200" b="1" i="1" dirty="0"/>
              <a:t>(Time Series Data Analysis)</a:t>
            </a:r>
            <a:endParaRPr lang="en-US" sz="1200" dirty="0"/>
          </a:p>
          <a:p>
            <a:pPr marL="173038" indent="0">
              <a:buNone/>
            </a:pPr>
            <a:r>
              <a:rPr lang="en-US" sz="1200" dirty="0" smtClean="0"/>
              <a:t>	</a:t>
            </a:r>
            <a:r>
              <a:rPr lang="en-US" sz="1200" dirty="0" err="1" smtClean="0"/>
              <a:t>Metode</a:t>
            </a:r>
            <a:r>
              <a:rPr lang="en-US" sz="1200" dirty="0" smtClean="0"/>
              <a:t> </a:t>
            </a:r>
            <a:r>
              <a:rPr lang="en-US" sz="1200" i="1" dirty="0"/>
              <a:t>time series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metode</a:t>
            </a:r>
            <a:r>
              <a:rPr lang="en-US" sz="1200" dirty="0"/>
              <a:t> </a:t>
            </a:r>
            <a:r>
              <a:rPr lang="en-US" sz="1200" dirty="0" err="1"/>
              <a:t>peramalan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analisa</a:t>
            </a:r>
            <a:r>
              <a:rPr lang="en-US" sz="1200" dirty="0"/>
              <a:t> </a:t>
            </a:r>
            <a:r>
              <a:rPr lang="en-US" sz="1200" dirty="0" err="1"/>
              <a:t>pola</a:t>
            </a:r>
            <a:r>
              <a:rPr lang="en-US" sz="1200" dirty="0"/>
              <a:t> </a:t>
            </a:r>
            <a:r>
              <a:rPr lang="en-US" sz="1200" dirty="0" err="1"/>
              <a:t>hubungan</a:t>
            </a:r>
            <a:r>
              <a:rPr lang="en-US" sz="1200" dirty="0"/>
              <a:t> </a:t>
            </a:r>
            <a:r>
              <a:rPr lang="en-US" sz="1200" dirty="0" err="1"/>
              <a:t>antara</a:t>
            </a:r>
            <a:r>
              <a:rPr lang="en-US" sz="1200" dirty="0"/>
              <a:t> </a:t>
            </a:r>
            <a:r>
              <a:rPr lang="en-US" sz="1200" dirty="0" err="1"/>
              <a:t>variabel</a:t>
            </a:r>
            <a:r>
              <a:rPr lang="en-US" sz="1200" dirty="0"/>
              <a:t> yang </a:t>
            </a:r>
            <a:r>
              <a:rPr lang="en-US" sz="1200" dirty="0" err="1"/>
              <a:t>akan</a:t>
            </a:r>
            <a:r>
              <a:rPr lang="en-US" sz="1200" dirty="0"/>
              <a:t> </a:t>
            </a:r>
            <a:r>
              <a:rPr lang="en-US" sz="1200" dirty="0" err="1"/>
              <a:t>diperkirakan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variabel</a:t>
            </a:r>
            <a:r>
              <a:rPr lang="en-US" sz="1200" dirty="0"/>
              <a:t> </a:t>
            </a:r>
            <a:r>
              <a:rPr lang="en-US" sz="1200" dirty="0" err="1"/>
              <a:t>waktu</a:t>
            </a:r>
            <a:r>
              <a:rPr lang="en-US" sz="1200" dirty="0"/>
              <a:t>. </a:t>
            </a:r>
            <a:r>
              <a:rPr lang="en-US" sz="1200" dirty="0" err="1"/>
              <a:t>Peramalan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data </a:t>
            </a:r>
            <a:r>
              <a:rPr lang="en-US" sz="1200" i="1" dirty="0"/>
              <a:t>time series</a:t>
            </a:r>
            <a:r>
              <a:rPr lang="en-US" sz="1200" dirty="0"/>
              <a:t> </a:t>
            </a:r>
            <a:r>
              <a:rPr lang="en-US" sz="1200" dirty="0" err="1"/>
              <a:t>perlu</a:t>
            </a:r>
            <a:r>
              <a:rPr lang="en-US" sz="1200" dirty="0"/>
              <a:t> </a:t>
            </a:r>
            <a:r>
              <a:rPr lang="en-US" sz="1200" dirty="0" err="1"/>
              <a:t>memperhatikan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pola</a:t>
            </a:r>
            <a:r>
              <a:rPr lang="en-US" sz="1200" dirty="0"/>
              <a:t> data.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umum</a:t>
            </a:r>
            <a:r>
              <a:rPr lang="en-US" sz="1200" dirty="0"/>
              <a:t> </a:t>
            </a:r>
            <a:r>
              <a:rPr lang="en-US" sz="1200" dirty="0" err="1"/>
              <a:t>terdapat</a:t>
            </a:r>
            <a:r>
              <a:rPr lang="en-US" sz="1200" dirty="0"/>
              <a:t> 4 </a:t>
            </a:r>
            <a:r>
              <a:rPr lang="en-US" sz="1200" dirty="0" err="1"/>
              <a:t>macam</a:t>
            </a:r>
            <a:r>
              <a:rPr lang="en-US" sz="1200" dirty="0"/>
              <a:t> </a:t>
            </a:r>
            <a:r>
              <a:rPr lang="en-US" sz="1200" dirty="0" err="1"/>
              <a:t>pola</a:t>
            </a:r>
            <a:r>
              <a:rPr lang="en-US" sz="1200" dirty="0"/>
              <a:t> data </a:t>
            </a:r>
            <a:r>
              <a:rPr lang="en-US" sz="1200" i="1" dirty="0"/>
              <a:t>time series</a:t>
            </a:r>
            <a:r>
              <a:rPr lang="en-US" sz="1200" dirty="0"/>
              <a:t> </a:t>
            </a:r>
            <a:r>
              <a:rPr lang="en-US" sz="1200" dirty="0" err="1"/>
              <a:t>yaitu</a:t>
            </a:r>
            <a:r>
              <a:rPr lang="en-US" sz="1200" dirty="0"/>
              <a:t>: </a:t>
            </a:r>
            <a:endParaRPr lang="en-US" sz="1200" dirty="0" smtClean="0"/>
          </a:p>
          <a:p>
            <a:pPr marL="401638" indent="-228600">
              <a:buAutoNum type="alphaUcPeriod"/>
            </a:pPr>
            <a:r>
              <a:rPr lang="en-US" sz="1200" dirty="0" smtClean="0"/>
              <a:t>Horizontal.</a:t>
            </a:r>
          </a:p>
          <a:p>
            <a:pPr marL="401638" lvl="0" indent="-228600">
              <a:buFont typeface="Arial" pitchFamily="34" charset="0"/>
              <a:buAutoNum type="alphaUcPeriod"/>
            </a:pPr>
            <a:r>
              <a:rPr lang="en-US" sz="1200" dirty="0"/>
              <a:t>Trend</a:t>
            </a:r>
          </a:p>
          <a:p>
            <a:pPr marL="401638" lvl="0" indent="-228600">
              <a:buFont typeface="Arial" pitchFamily="34" charset="0"/>
              <a:buAutoNum type="alphaUcPeriod"/>
            </a:pPr>
            <a:r>
              <a:rPr lang="en-US" sz="1200" dirty="0"/>
              <a:t> </a:t>
            </a:r>
            <a:r>
              <a:rPr lang="en-US" sz="1200" dirty="0" err="1"/>
              <a:t>Siklis</a:t>
            </a:r>
            <a:r>
              <a:rPr lang="en-US" sz="1200" dirty="0"/>
              <a:t>. </a:t>
            </a:r>
          </a:p>
          <a:p>
            <a:pPr marL="401638" indent="-228600">
              <a:buAutoNum type="alphaUcPeriod"/>
            </a:pPr>
            <a:endParaRPr lang="en-US" sz="1200" dirty="0" smtClean="0"/>
          </a:p>
          <a:p>
            <a:pPr marL="401638" indent="-228600">
              <a:buAutoNum type="alphaUcPeriod"/>
            </a:pPr>
            <a:endParaRPr lang="en-US" sz="1200" dirty="0"/>
          </a:p>
          <a:p>
            <a:pPr marL="0" indent="0" algn="just">
              <a:lnSpc>
                <a:spcPct val="170000"/>
              </a:lnSpc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13266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128470"/>
            <a:ext cx="6871725" cy="725349"/>
          </a:xfrm>
        </p:spPr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n-US" b="1" dirty="0" err="1"/>
              <a:t>Definisi</a:t>
            </a:r>
            <a:r>
              <a:rPr lang="en-US" b="1" dirty="0"/>
              <a:t> </a:t>
            </a:r>
            <a:r>
              <a:rPr lang="en-US" b="1" dirty="0" err="1"/>
              <a:t>Operasional</a:t>
            </a:r>
            <a:r>
              <a:rPr lang="en-US" b="1" dirty="0"/>
              <a:t> </a:t>
            </a:r>
            <a:r>
              <a:rPr lang="en-US" b="1" dirty="0" err="1" smtClean="0"/>
              <a:t>Variabel</a:t>
            </a:r>
            <a:endParaRPr lang="en-US" dirty="0">
              <a:effectLst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1670" y="891995"/>
            <a:ext cx="6871725" cy="4251505"/>
          </a:xfrm>
        </p:spPr>
        <p:txBody>
          <a:bodyPr>
            <a:noAutofit/>
          </a:bodyPr>
          <a:lstStyle/>
          <a:p>
            <a:pPr marL="173038" lvl="0" indent="-173038" algn="just">
              <a:lnSpc>
                <a:spcPct val="170000"/>
              </a:lnSpc>
              <a:buNone/>
            </a:pPr>
            <a:r>
              <a:rPr lang="en-US" sz="1200" dirty="0" smtClean="0"/>
              <a:t>1.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 err="1"/>
              <a:t>Keuangan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bagaimana</a:t>
            </a:r>
            <a:r>
              <a:rPr lang="en-US" sz="1200" dirty="0"/>
              <a:t> </a:t>
            </a:r>
            <a:r>
              <a:rPr lang="en-US" sz="1200" dirty="0" err="1"/>
              <a:t>perusahaan</a:t>
            </a:r>
            <a:r>
              <a:rPr lang="en-US" sz="1200" dirty="0"/>
              <a:t> </a:t>
            </a:r>
            <a:r>
              <a:rPr lang="en-US" sz="1200" dirty="0" err="1"/>
              <a:t>membiayai</a:t>
            </a:r>
            <a:r>
              <a:rPr lang="en-US" sz="1200" dirty="0"/>
              <a:t> </a:t>
            </a:r>
            <a:r>
              <a:rPr lang="en-US" sz="1200" dirty="0" err="1"/>
              <a:t>aktivanya</a:t>
            </a:r>
            <a:r>
              <a:rPr lang="en-US" sz="1200" dirty="0"/>
              <a:t>. </a:t>
            </a:r>
            <a:r>
              <a:rPr lang="en-US" sz="1200" dirty="0" err="1"/>
              <a:t>Aktiva</a:t>
            </a:r>
            <a:r>
              <a:rPr lang="en-US" sz="1200" dirty="0"/>
              <a:t> </a:t>
            </a:r>
            <a:r>
              <a:rPr lang="en-US" sz="1200" dirty="0" err="1"/>
              <a:t>perusahaan</a:t>
            </a:r>
            <a:r>
              <a:rPr lang="en-US" sz="1200" dirty="0"/>
              <a:t> di </a:t>
            </a:r>
            <a:r>
              <a:rPr lang="en-US" sz="1200" dirty="0" err="1"/>
              <a:t>danai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hutang</a:t>
            </a:r>
            <a:r>
              <a:rPr lang="en-US" sz="1200" dirty="0"/>
              <a:t> </a:t>
            </a:r>
            <a:r>
              <a:rPr lang="en-US" sz="1200" dirty="0" err="1"/>
              <a:t>jangka</a:t>
            </a:r>
            <a:r>
              <a:rPr lang="en-US" sz="1200" dirty="0"/>
              <a:t> </a:t>
            </a:r>
            <a:r>
              <a:rPr lang="en-US" sz="1200" dirty="0" err="1"/>
              <a:t>pendek</a:t>
            </a:r>
            <a:r>
              <a:rPr lang="en-US" sz="1200" dirty="0"/>
              <a:t>, </a:t>
            </a:r>
            <a:r>
              <a:rPr lang="en-US" sz="1200" dirty="0" err="1"/>
              <a:t>jangka</a:t>
            </a:r>
            <a:r>
              <a:rPr lang="en-US" sz="1200" dirty="0"/>
              <a:t> </a:t>
            </a:r>
            <a:r>
              <a:rPr lang="en-US" sz="1200" dirty="0" err="1"/>
              <a:t>panjang</a:t>
            </a:r>
            <a:r>
              <a:rPr lang="en-US" sz="1200" dirty="0"/>
              <a:t>, </a:t>
            </a:r>
            <a:r>
              <a:rPr lang="en-US" sz="1200" dirty="0" err="1"/>
              <a:t>dan</a:t>
            </a:r>
            <a:r>
              <a:rPr lang="en-US" sz="1200" dirty="0"/>
              <a:t> modal </a:t>
            </a:r>
            <a:r>
              <a:rPr lang="en-US" sz="1200" dirty="0" err="1"/>
              <a:t>pemegang</a:t>
            </a:r>
            <a:r>
              <a:rPr lang="en-US" sz="1200" dirty="0"/>
              <a:t> </a:t>
            </a:r>
            <a:r>
              <a:rPr lang="en-US" sz="1200" dirty="0" err="1"/>
              <a:t>saham</a:t>
            </a:r>
            <a:r>
              <a:rPr lang="en-US" sz="1200" dirty="0"/>
              <a:t>, </a:t>
            </a:r>
            <a:r>
              <a:rPr lang="en-US" sz="1200" dirty="0" err="1"/>
              <a:t>sehingga</a:t>
            </a:r>
            <a:r>
              <a:rPr lang="en-US" sz="1200" dirty="0"/>
              <a:t> </a:t>
            </a:r>
            <a:r>
              <a:rPr lang="en-US" sz="1200" dirty="0" err="1"/>
              <a:t>seluruh</a:t>
            </a:r>
            <a:r>
              <a:rPr lang="en-US" sz="1200" dirty="0"/>
              <a:t> </a:t>
            </a:r>
            <a:r>
              <a:rPr lang="en-US" sz="1200" dirty="0" err="1"/>
              <a:t>sisi</a:t>
            </a:r>
            <a:r>
              <a:rPr lang="en-US" sz="1200" dirty="0"/>
              <a:t> </a:t>
            </a:r>
            <a:r>
              <a:rPr lang="en-US" sz="1200" dirty="0" err="1"/>
              <a:t>aktiva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neraca</a:t>
            </a:r>
            <a:r>
              <a:rPr lang="en-US" sz="1200" dirty="0"/>
              <a:t> </a:t>
            </a:r>
            <a:r>
              <a:rPr lang="en-US" sz="1200" dirty="0" err="1"/>
              <a:t>memperlihatkan</a:t>
            </a:r>
            <a:r>
              <a:rPr lang="en-US" sz="1200" dirty="0"/>
              <a:t> </a:t>
            </a:r>
            <a:r>
              <a:rPr lang="en-US" sz="1200" dirty="0" err="1"/>
              <a:t>struktur</a:t>
            </a:r>
            <a:r>
              <a:rPr lang="en-US" sz="1200" dirty="0"/>
              <a:t> </a:t>
            </a:r>
            <a:r>
              <a:rPr lang="en-US" sz="1200" dirty="0" err="1"/>
              <a:t>keuangan</a:t>
            </a:r>
            <a:r>
              <a:rPr lang="en-US" sz="1200" dirty="0"/>
              <a:t>. </a:t>
            </a:r>
            <a:r>
              <a:rPr lang="en-US" sz="1200" dirty="0" err="1"/>
              <a:t>Variabel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variabel</a:t>
            </a:r>
            <a:r>
              <a:rPr lang="en-US" sz="1200" dirty="0"/>
              <a:t> </a:t>
            </a:r>
            <a:r>
              <a:rPr lang="en-US" sz="1200" dirty="0" err="1"/>
              <a:t>observasi</a:t>
            </a:r>
            <a:r>
              <a:rPr lang="en-US" sz="1200" dirty="0"/>
              <a:t> yang </a:t>
            </a:r>
            <a:r>
              <a:rPr lang="en-US" sz="1200" dirty="0" err="1"/>
              <a:t>diukur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</a:t>
            </a:r>
            <a:r>
              <a:rPr lang="en-US" sz="1200" dirty="0" err="1"/>
              <a:t>indikator</a:t>
            </a:r>
            <a:r>
              <a:rPr lang="en-US" sz="1200" dirty="0"/>
              <a:t> </a:t>
            </a:r>
            <a:r>
              <a:rPr lang="en-US" sz="1200" dirty="0" err="1"/>
              <a:t>rasio</a:t>
            </a:r>
            <a:r>
              <a:rPr lang="en-US" sz="1200" dirty="0"/>
              <a:t> </a:t>
            </a:r>
            <a:r>
              <a:rPr lang="en-US" sz="1200" dirty="0" err="1"/>
              <a:t>profitabilitas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</a:t>
            </a:r>
            <a:r>
              <a:rPr lang="en-US" sz="1200" i="1" dirty="0"/>
              <a:t>net profit margin.</a:t>
            </a:r>
            <a:endParaRPr lang="en-US" sz="1200" dirty="0"/>
          </a:p>
          <a:p>
            <a:pPr marL="173038" lvl="0" indent="-173038">
              <a:lnSpc>
                <a:spcPct val="150000"/>
              </a:lnSpc>
              <a:buNone/>
            </a:pPr>
            <a:r>
              <a:rPr lang="en-US" sz="1200" dirty="0" smtClean="0"/>
              <a:t>2. </a:t>
            </a:r>
            <a:r>
              <a:rPr lang="en-US" sz="1200" dirty="0" err="1" smtClean="0"/>
              <a:t>Struktur</a:t>
            </a:r>
            <a:r>
              <a:rPr lang="en-US" sz="1200" dirty="0" smtClean="0"/>
              <a:t> </a:t>
            </a:r>
            <a:r>
              <a:rPr lang="en-US" sz="1200" dirty="0"/>
              <a:t>Modal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mencerminkan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bagaimana</a:t>
            </a:r>
            <a:r>
              <a:rPr lang="en-US" sz="1200" dirty="0"/>
              <a:t> </a:t>
            </a:r>
            <a:r>
              <a:rPr lang="en-US" sz="1200" dirty="0" err="1"/>
              <a:t>aktiva-aktiva</a:t>
            </a:r>
            <a:r>
              <a:rPr lang="en-US" sz="1200" dirty="0"/>
              <a:t> </a:t>
            </a:r>
            <a:r>
              <a:rPr lang="en-US" sz="1200" dirty="0" err="1"/>
              <a:t>perusahaan</a:t>
            </a:r>
            <a:r>
              <a:rPr lang="en-US" sz="1200" dirty="0"/>
              <a:t> </a:t>
            </a:r>
            <a:r>
              <a:rPr lang="en-US" sz="1200" dirty="0" err="1"/>
              <a:t>dibelanjai</a:t>
            </a:r>
            <a:r>
              <a:rPr lang="en-US" sz="1200" dirty="0"/>
              <a:t>,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demikian</a:t>
            </a:r>
            <a:r>
              <a:rPr lang="en-US" sz="1200" dirty="0"/>
              <a:t> </a:t>
            </a:r>
            <a:r>
              <a:rPr lang="en-US" sz="1200" dirty="0" err="1"/>
              <a:t>struktur</a:t>
            </a:r>
            <a:r>
              <a:rPr lang="en-US" sz="1200" dirty="0"/>
              <a:t> </a:t>
            </a:r>
            <a:r>
              <a:rPr lang="en-US" sz="1200" dirty="0" err="1"/>
              <a:t>keuangan</a:t>
            </a:r>
            <a:r>
              <a:rPr lang="en-US" sz="1200" dirty="0"/>
              <a:t> </a:t>
            </a:r>
            <a:r>
              <a:rPr lang="en-US" sz="1200" dirty="0" err="1"/>
              <a:t>tercermin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keseluruhan</a:t>
            </a:r>
            <a:r>
              <a:rPr lang="en-US" sz="1200" dirty="0"/>
              <a:t> </a:t>
            </a:r>
            <a:r>
              <a:rPr lang="en-US" sz="1200" dirty="0" err="1"/>
              <a:t>pasiva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neraca.Variabel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variabel</a:t>
            </a:r>
            <a:r>
              <a:rPr lang="en-US" sz="1200" dirty="0"/>
              <a:t> </a:t>
            </a:r>
            <a:r>
              <a:rPr lang="en-US" sz="1200" dirty="0" err="1"/>
              <a:t>observasi</a:t>
            </a:r>
            <a:r>
              <a:rPr lang="en-US" sz="1200" dirty="0"/>
              <a:t> yang </a:t>
            </a:r>
            <a:r>
              <a:rPr lang="en-US" sz="1200" dirty="0" err="1"/>
              <a:t>diukur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</a:t>
            </a:r>
            <a:r>
              <a:rPr lang="en-US" sz="1200" dirty="0" err="1"/>
              <a:t>indikator</a:t>
            </a:r>
            <a:r>
              <a:rPr lang="en-US" sz="1200" dirty="0"/>
              <a:t> :</a:t>
            </a:r>
          </a:p>
          <a:p>
            <a:pPr marL="344488" lvl="0" indent="-171450">
              <a:lnSpc>
                <a:spcPct val="150000"/>
              </a:lnSpc>
              <a:buNone/>
            </a:pPr>
            <a:r>
              <a:rPr lang="en-US" sz="1200" dirty="0" smtClean="0"/>
              <a:t>A. </a:t>
            </a:r>
            <a:r>
              <a:rPr lang="en-US" sz="1200" dirty="0" err="1" smtClean="0"/>
              <a:t>Ekuitas</a:t>
            </a:r>
            <a:r>
              <a:rPr lang="en-US" sz="1200" dirty="0" smtClean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besarnya</a:t>
            </a:r>
            <a:r>
              <a:rPr lang="en-US" sz="1200" dirty="0"/>
              <a:t> </a:t>
            </a:r>
            <a:r>
              <a:rPr lang="en-US" sz="1200" dirty="0" err="1"/>
              <a:t>hak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kepentingan</a:t>
            </a:r>
            <a:r>
              <a:rPr lang="en-US" sz="1200" dirty="0"/>
              <a:t> </a:t>
            </a:r>
            <a:r>
              <a:rPr lang="en-US" sz="1200" dirty="0" err="1"/>
              <a:t>pemilik</a:t>
            </a:r>
            <a:r>
              <a:rPr lang="en-US" sz="1200" dirty="0"/>
              <a:t> </a:t>
            </a:r>
            <a:r>
              <a:rPr lang="en-US" sz="1200" dirty="0" err="1"/>
              <a:t>perusahaan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harta</a:t>
            </a:r>
            <a:r>
              <a:rPr lang="en-US" sz="1200" dirty="0"/>
              <a:t> </a:t>
            </a:r>
            <a:r>
              <a:rPr lang="en-US" sz="1200" dirty="0" err="1"/>
              <a:t>perusahaan</a:t>
            </a:r>
            <a:r>
              <a:rPr lang="en-US" sz="1200" dirty="0"/>
              <a:t>. </a:t>
            </a:r>
            <a:r>
              <a:rPr lang="en-US" sz="1200" dirty="0" err="1"/>
              <a:t>Istilah</a:t>
            </a:r>
            <a:r>
              <a:rPr lang="en-US" sz="1200" dirty="0"/>
              <a:t> </a:t>
            </a:r>
            <a:r>
              <a:rPr lang="en-US" sz="1200" dirty="0" err="1"/>
              <a:t>ekuitas</a:t>
            </a:r>
            <a:r>
              <a:rPr lang="en-US" sz="1200" dirty="0"/>
              <a:t> </a:t>
            </a:r>
            <a:r>
              <a:rPr lang="en-US" sz="1200" dirty="0" err="1"/>
              <a:t>berasal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kata </a:t>
            </a:r>
            <a:r>
              <a:rPr lang="en-US" sz="1200" i="1" dirty="0"/>
              <a:t>equity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i="1" dirty="0"/>
              <a:t>equity of ownership</a:t>
            </a:r>
            <a:r>
              <a:rPr lang="en-US" sz="1200" dirty="0"/>
              <a:t> yang </a:t>
            </a:r>
            <a:r>
              <a:rPr lang="en-US" sz="1200" dirty="0" err="1"/>
              <a:t>berarti</a:t>
            </a:r>
            <a:r>
              <a:rPr lang="en-US" sz="1200" dirty="0"/>
              <a:t> </a:t>
            </a:r>
            <a:r>
              <a:rPr lang="en-US" sz="1200" dirty="0" err="1"/>
              <a:t>kekayaan</a:t>
            </a:r>
            <a:r>
              <a:rPr lang="en-US" sz="1200" dirty="0"/>
              <a:t> </a:t>
            </a:r>
            <a:r>
              <a:rPr lang="en-US" sz="1200" dirty="0" err="1"/>
              <a:t>bersih</a:t>
            </a:r>
            <a:r>
              <a:rPr lang="en-US" sz="1200" dirty="0"/>
              <a:t> </a:t>
            </a:r>
            <a:r>
              <a:rPr lang="en-US" sz="1200" dirty="0" err="1"/>
              <a:t>perusahaan</a:t>
            </a:r>
            <a:r>
              <a:rPr lang="en-US" sz="120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200" dirty="0"/>
              <a:t> </a:t>
            </a:r>
            <a:r>
              <a:rPr lang="en-US" sz="1200" dirty="0" err="1"/>
              <a:t>Pinjaman</a:t>
            </a:r>
            <a:r>
              <a:rPr lang="en-US" sz="1200" dirty="0"/>
              <a:t> 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</a:t>
            </a:r>
            <a:r>
              <a:rPr lang="en-US" sz="1200" dirty="0" err="1"/>
              <a:t>jenis</a:t>
            </a:r>
            <a:r>
              <a:rPr lang="en-US" sz="1200" dirty="0"/>
              <a:t> </a:t>
            </a:r>
            <a:r>
              <a:rPr lang="en-US" sz="1200" dirty="0" err="1"/>
              <a:t>hutang</a:t>
            </a:r>
            <a:r>
              <a:rPr lang="en-US" sz="1200" dirty="0"/>
              <a:t> yang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melibatkan</a:t>
            </a:r>
            <a:r>
              <a:rPr lang="en-US" sz="1200" dirty="0"/>
              <a:t> </a:t>
            </a:r>
            <a:r>
              <a:rPr lang="en-US" sz="1200" dirty="0" err="1"/>
              <a:t>semua</a:t>
            </a:r>
            <a:r>
              <a:rPr lang="en-US" sz="1200" dirty="0"/>
              <a:t>   </a:t>
            </a:r>
            <a:r>
              <a:rPr lang="en-US" sz="1200" dirty="0" err="1"/>
              <a:t>jenis</a:t>
            </a:r>
            <a:r>
              <a:rPr lang="en-US" sz="1200" dirty="0"/>
              <a:t> </a:t>
            </a:r>
            <a:r>
              <a:rPr lang="en-US" sz="1200" dirty="0" err="1"/>
              <a:t>benda</a:t>
            </a:r>
            <a:r>
              <a:rPr lang="en-US" sz="1200" dirty="0"/>
              <a:t> </a:t>
            </a:r>
            <a:r>
              <a:rPr lang="en-US" sz="1200" dirty="0" err="1"/>
              <a:t>berwujud</a:t>
            </a:r>
            <a:r>
              <a:rPr lang="en-US" sz="1200" dirty="0"/>
              <a:t> </a:t>
            </a:r>
            <a:r>
              <a:rPr lang="en-US" sz="1200" dirty="0" err="1"/>
              <a:t>walaupun</a:t>
            </a:r>
            <a:r>
              <a:rPr lang="en-US" sz="1200" dirty="0"/>
              <a:t>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sering</a:t>
            </a:r>
            <a:r>
              <a:rPr lang="en-US" sz="1200" dirty="0"/>
              <a:t> </a:t>
            </a:r>
            <a:r>
              <a:rPr lang="en-US" sz="1200" dirty="0" err="1"/>
              <a:t>diidentikkan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pinjaman</a:t>
            </a:r>
            <a:r>
              <a:rPr lang="en-US" sz="1200" dirty="0"/>
              <a:t> </a:t>
            </a:r>
            <a:r>
              <a:rPr lang="en-US" sz="1200" dirty="0" err="1"/>
              <a:t>moneter</a:t>
            </a:r>
            <a:r>
              <a:rPr lang="en-US" sz="1200" dirty="0"/>
              <a:t>. </a:t>
            </a:r>
            <a:endParaRPr lang="en-US" sz="1200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sz="1200" dirty="0"/>
          </a:p>
          <a:p>
            <a:pPr marL="0" indent="0" algn="just">
              <a:lnSpc>
                <a:spcPct val="150000"/>
              </a:lnSpc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79635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128470"/>
            <a:ext cx="6871725" cy="725349"/>
          </a:xfrm>
        </p:spPr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n-US" b="1" dirty="0" err="1"/>
              <a:t>Definisi</a:t>
            </a:r>
            <a:r>
              <a:rPr lang="en-US" b="1" dirty="0"/>
              <a:t> </a:t>
            </a:r>
            <a:r>
              <a:rPr lang="en-US" b="1" dirty="0" err="1"/>
              <a:t>Operasional</a:t>
            </a:r>
            <a:r>
              <a:rPr lang="en-US" b="1" dirty="0"/>
              <a:t> </a:t>
            </a:r>
            <a:r>
              <a:rPr lang="en-US" b="1" dirty="0" err="1" smtClean="0"/>
              <a:t>Variabel</a:t>
            </a:r>
            <a:endParaRPr lang="en-US" dirty="0">
              <a:effectLst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1670" y="891995"/>
            <a:ext cx="6871725" cy="4251505"/>
          </a:xfrm>
        </p:spPr>
        <p:txBody>
          <a:bodyPr>
            <a:noAutofit/>
          </a:bodyPr>
          <a:lstStyle/>
          <a:p>
            <a:pPr marL="173038" lvl="0" indent="-173038" algn="just">
              <a:lnSpc>
                <a:spcPct val="150000"/>
              </a:lnSpc>
              <a:buNone/>
            </a:pPr>
            <a:r>
              <a:rPr lang="en-US" sz="1200" i="1" dirty="0" smtClean="0"/>
              <a:t>3. Trade </a:t>
            </a:r>
            <a:r>
              <a:rPr lang="en-US" sz="1200" i="1" dirty="0"/>
              <a:t>off theory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struktur</a:t>
            </a:r>
            <a:r>
              <a:rPr lang="en-US" sz="1200" dirty="0"/>
              <a:t> modal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gagasan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dirty="0" err="1"/>
              <a:t>perusahaan</a:t>
            </a:r>
            <a:r>
              <a:rPr lang="en-US" sz="1200" dirty="0"/>
              <a:t> </a:t>
            </a:r>
            <a:r>
              <a:rPr lang="en-US" sz="1200" dirty="0" err="1"/>
              <a:t>memilih</a:t>
            </a:r>
            <a:r>
              <a:rPr lang="en-US" sz="1200" dirty="0"/>
              <a:t> </a:t>
            </a:r>
            <a:r>
              <a:rPr lang="en-US" sz="1200" dirty="0" err="1"/>
              <a:t>berapa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</a:t>
            </a:r>
            <a:r>
              <a:rPr lang="en-US" sz="1200" dirty="0" err="1"/>
              <a:t>utang</a:t>
            </a:r>
            <a:r>
              <a:rPr lang="en-US" sz="1200" dirty="0"/>
              <a:t> </a:t>
            </a:r>
            <a:r>
              <a:rPr lang="en-US" sz="1200" dirty="0" err="1"/>
              <a:t>keuangan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berapa</a:t>
            </a:r>
            <a:r>
              <a:rPr lang="en-US" sz="1200" dirty="0"/>
              <a:t> </a:t>
            </a:r>
            <a:r>
              <a:rPr lang="en-US" sz="1200" dirty="0" err="1"/>
              <a:t>banyak</a:t>
            </a:r>
            <a:r>
              <a:rPr lang="en-US" sz="1200" dirty="0"/>
              <a:t> modal </a:t>
            </a:r>
            <a:r>
              <a:rPr lang="en-US" sz="1200" dirty="0" err="1"/>
              <a:t>ekuitas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menyeimbangkan</a:t>
            </a:r>
            <a:r>
              <a:rPr lang="en-US" sz="1200" dirty="0"/>
              <a:t> </a:t>
            </a:r>
            <a:r>
              <a:rPr lang="en-US" sz="1200" dirty="0" err="1"/>
              <a:t>biaya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manfaat</a:t>
            </a:r>
            <a:r>
              <a:rPr lang="en-US" sz="1200" dirty="0"/>
              <a:t>. </a:t>
            </a:r>
            <a:r>
              <a:rPr lang="en-US" sz="1200" dirty="0" err="1"/>
              <a:t>Tujuan</a:t>
            </a:r>
            <a:r>
              <a:rPr lang="en-US" sz="1200" dirty="0"/>
              <a:t> </a:t>
            </a:r>
            <a:r>
              <a:rPr lang="en-US" sz="1200" dirty="0" err="1"/>
              <a:t>penting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teori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menjelaskan</a:t>
            </a:r>
            <a:r>
              <a:rPr lang="en-US" sz="1200" dirty="0"/>
              <a:t> </a:t>
            </a:r>
            <a:r>
              <a:rPr lang="en-US" sz="1200" dirty="0" err="1"/>
              <a:t>fakta</a:t>
            </a:r>
            <a:r>
              <a:rPr lang="en-US" sz="1200" dirty="0"/>
              <a:t> </a:t>
            </a:r>
            <a:r>
              <a:rPr lang="en-US" sz="1200" dirty="0" err="1"/>
              <a:t>bahwa</a:t>
            </a:r>
            <a:r>
              <a:rPr lang="en-US" sz="1200" dirty="0"/>
              <a:t> </a:t>
            </a:r>
            <a:r>
              <a:rPr lang="en-US" sz="1200" dirty="0" err="1"/>
              <a:t>perusahaan</a:t>
            </a:r>
            <a:r>
              <a:rPr lang="en-US" sz="1200" dirty="0"/>
              <a:t> </a:t>
            </a:r>
            <a:r>
              <a:rPr lang="en-US" sz="1200" dirty="0" err="1"/>
              <a:t>biasanya</a:t>
            </a:r>
            <a:r>
              <a:rPr lang="en-US" sz="1200" dirty="0"/>
              <a:t> </a:t>
            </a:r>
            <a:r>
              <a:rPr lang="en-US" sz="1200" dirty="0" err="1"/>
              <a:t>dibiayai</a:t>
            </a:r>
            <a:r>
              <a:rPr lang="en-US" sz="1200" dirty="0"/>
              <a:t> </a:t>
            </a: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hutang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sebagian</a:t>
            </a:r>
            <a:r>
              <a:rPr lang="en-US" sz="1200" dirty="0"/>
              <a:t> </a:t>
            </a:r>
            <a:r>
              <a:rPr lang="en-US" sz="1200" dirty="0" err="1"/>
              <a:t>lagi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ekuitas</a:t>
            </a:r>
            <a:r>
              <a:rPr lang="en-US" sz="1200" dirty="0"/>
              <a:t>.</a:t>
            </a:r>
          </a:p>
          <a:p>
            <a:pPr marL="173038" lvl="0" indent="-173038" algn="just">
              <a:lnSpc>
                <a:spcPct val="150000"/>
              </a:lnSpc>
              <a:buNone/>
            </a:pPr>
            <a:r>
              <a:rPr lang="en-US" sz="1200" dirty="0" smtClean="0"/>
              <a:t>4. </a:t>
            </a:r>
            <a:r>
              <a:rPr lang="en-US" sz="1200" dirty="0" err="1"/>
              <a:t>Biaya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Manfaat</a:t>
            </a:r>
            <a:r>
              <a:rPr lang="en-US" sz="1200" dirty="0"/>
              <a:t>. </a:t>
            </a:r>
            <a:r>
              <a:rPr lang="en-US" sz="1200" dirty="0" err="1"/>
              <a:t>Biaya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harga</a:t>
            </a:r>
            <a:r>
              <a:rPr lang="en-US" sz="1200" dirty="0"/>
              <a:t> </a:t>
            </a:r>
            <a:r>
              <a:rPr lang="en-US" sz="1200" dirty="0" err="1"/>
              <a:t>pokok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bagiannya</a:t>
            </a:r>
            <a:r>
              <a:rPr lang="en-US" sz="1200" dirty="0"/>
              <a:t> yang </a:t>
            </a:r>
            <a:r>
              <a:rPr lang="en-US" sz="1200" dirty="0" err="1"/>
              <a:t>telah</a:t>
            </a:r>
            <a:r>
              <a:rPr lang="en-US" sz="1200" dirty="0"/>
              <a:t> </a:t>
            </a:r>
            <a:r>
              <a:rPr lang="en-US" sz="1200" dirty="0" err="1"/>
              <a:t>dimanfaatkan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dikonsumsi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memperoleh</a:t>
            </a:r>
            <a:r>
              <a:rPr lang="en-US" sz="1200" dirty="0"/>
              <a:t> </a:t>
            </a:r>
            <a:r>
              <a:rPr lang="en-US" sz="1200" dirty="0" err="1"/>
              <a:t>pendapatan</a:t>
            </a:r>
            <a:r>
              <a:rPr lang="en-US" sz="1200" dirty="0"/>
              <a:t>. </a:t>
            </a:r>
            <a:r>
              <a:rPr lang="en-US" sz="1200" dirty="0" err="1"/>
              <a:t>Analisis</a:t>
            </a:r>
            <a:r>
              <a:rPr lang="en-US" sz="1200" dirty="0"/>
              <a:t> </a:t>
            </a:r>
            <a:r>
              <a:rPr lang="en-US" sz="1200" dirty="0" err="1"/>
              <a:t>biaya-manfaat</a:t>
            </a:r>
            <a:r>
              <a:rPr lang="en-US" sz="1200" dirty="0"/>
              <a:t>,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dikenal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singkatan</a:t>
            </a:r>
            <a:r>
              <a:rPr lang="en-US" sz="1200" dirty="0"/>
              <a:t> </a:t>
            </a:r>
            <a:r>
              <a:rPr lang="en-US" sz="1200" dirty="0" err="1"/>
              <a:t>bahasa</a:t>
            </a:r>
            <a:r>
              <a:rPr lang="en-US" sz="1200" dirty="0"/>
              <a:t> </a:t>
            </a:r>
            <a:r>
              <a:rPr lang="en-US" sz="1200" dirty="0" err="1"/>
              <a:t>Inggris</a:t>
            </a:r>
            <a:r>
              <a:rPr lang="en-US" sz="1200" dirty="0"/>
              <a:t> CBA </a:t>
            </a:r>
            <a:r>
              <a:rPr lang="en-US" sz="1200" i="1" dirty="0"/>
              <a:t>(cost-benefit analysis),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pendekatan</a:t>
            </a:r>
            <a:r>
              <a:rPr lang="en-US" sz="1200" dirty="0"/>
              <a:t>  </a:t>
            </a:r>
            <a:r>
              <a:rPr lang="en-US" sz="1200" dirty="0" err="1"/>
              <a:t>sistematis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mempertimbangkan</a:t>
            </a:r>
            <a:r>
              <a:rPr lang="en-US" sz="1200" dirty="0"/>
              <a:t> </a:t>
            </a:r>
            <a:r>
              <a:rPr lang="en-US" sz="1200" dirty="0" err="1"/>
              <a:t>kelemahan</a:t>
            </a:r>
            <a:r>
              <a:rPr lang="en-US" sz="1200" dirty="0"/>
              <a:t> (</a:t>
            </a:r>
            <a:r>
              <a:rPr lang="en-US" sz="1200" dirty="0" err="1"/>
              <a:t>biaya</a:t>
            </a:r>
            <a:r>
              <a:rPr lang="en-US" sz="1200" dirty="0"/>
              <a:t>) 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kekuatan</a:t>
            </a:r>
            <a:r>
              <a:rPr lang="en-US" sz="1200" dirty="0"/>
              <a:t> (</a:t>
            </a:r>
            <a:r>
              <a:rPr lang="en-US" sz="1200" dirty="0" err="1"/>
              <a:t>manfaat</a:t>
            </a:r>
            <a:r>
              <a:rPr lang="en-US" sz="1200" dirty="0"/>
              <a:t>) </a:t>
            </a:r>
            <a:r>
              <a:rPr lang="en-US" sz="1200" dirty="0" err="1"/>
              <a:t>terhadap</a:t>
            </a:r>
            <a:r>
              <a:rPr lang="en-US" sz="1200" dirty="0"/>
              <a:t> </a:t>
            </a:r>
            <a:r>
              <a:rPr lang="en-US" sz="1200" dirty="0" err="1"/>
              <a:t>pilihan</a:t>
            </a:r>
            <a:r>
              <a:rPr lang="en-US" sz="1200" dirty="0"/>
              <a:t> yang </a:t>
            </a:r>
            <a:r>
              <a:rPr lang="en-US" sz="1200" dirty="0" err="1"/>
              <a:t>ada</a:t>
            </a:r>
            <a:r>
              <a:rPr lang="en-US" sz="1200" dirty="0"/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47060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1808225"/>
            <a:ext cx="7772400" cy="1021556"/>
          </a:xfrm>
        </p:spPr>
        <p:txBody>
          <a:bodyPr/>
          <a:lstStyle/>
          <a:p>
            <a:pPr algn="ctr"/>
            <a:r>
              <a:rPr lang="en-US" dirty="0" err="1" smtClean="0"/>
              <a:t>tRIMAKASIH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On-screen Show (16:9)</PresentationFormat>
  <Paragraphs>56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Nama        : karlina Stambuk : A1M1 17 071  </vt:lpstr>
      <vt:lpstr>ANALISIS STRUKTUR KEUANGAN DAN MODAL BANK DENGAN TRADE OFF MANFAAT DAN BIAYA</vt:lpstr>
      <vt:lpstr>Latar Belakang</vt:lpstr>
      <vt:lpstr>Tujuan Penelitian</vt:lpstr>
      <vt:lpstr>Manfaat Penelitan</vt:lpstr>
      <vt:lpstr>Ruang Lingkup Penelitian</vt:lpstr>
      <vt:lpstr>Kerangka Berfikir</vt:lpstr>
      <vt:lpstr>METODE PENELITIAN</vt:lpstr>
      <vt:lpstr>Jenis dan Sumber Data</vt:lpstr>
      <vt:lpstr>Jenis dan Sumber Data</vt:lpstr>
      <vt:lpstr>Jenis dan Sumber Data</vt:lpstr>
      <vt:lpstr>Analisis statistik deskriptif dapat dibedakan menjadi :</vt:lpstr>
      <vt:lpstr>Definisi Operasional Variabel</vt:lpstr>
      <vt:lpstr>Definisi Operasional Variabel</vt:lpstr>
      <vt:lpstr>tRIMAKASIH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2020-06-12T11:40:29Z</dcterms:modified>
</cp:coreProperties>
</file>